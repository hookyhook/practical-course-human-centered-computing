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Open with one sentence that frames the whole talk:</a:t>
            </a:r>
          </a:p>
          <a:p>
            <a:r>
              <a:rPr sz="1100">
                <a:latin typeface="Calibri"/>
              </a:rPr>
              <a:t>"In W4 we proposed seven language clusters. Today I want to show you what changed and why."</a:t>
            </a:r>
          </a:p>
          <a:p>
            <a:r>
              <a:rPr sz="1100">
                <a:latin typeface="Calibri"/>
              </a:rPr>
              <a:t>Keep it short. Don't read this slide. Move on within twenty seconds. The point is the title slide is just a hand-off into the real argument.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Open by setting the frame: "In W4 we presented seven phylogenetic clusters. You came back with a clear list of changes. This slide is the bridge between those two states."</a:t>
            </a:r>
          </a:p>
          <a:p>
            <a:r>
              <a:rPr sz="1100">
                <a:latin typeface="Calibri"/>
              </a:rPr>
              <a:t>Walk the left column briefly: "These were the seven clusters from W4 — one language family each, one champion language per cluster."</a:t>
            </a:r>
          </a:p>
          <a:p>
            <a:r>
              <a:rPr sz="1100">
                <a:latin typeface="Calibri"/>
              </a:rPr>
              <a:t>Then turn to the right column and read the requirements out loud as you point to each row:
- C1 — English and German.
- C2 — Spanish, French, optionally Italian.
- C3 — Check whether Persian is in the dataset; otherwise keep the rest of the cluster as-is.
- Then the three arrows: merge clusters 4 through 7 into one group, drop the word "cluster" for that group, and link source papers for every decision.</a:t>
            </a:r>
          </a:p>
          <a:p>
            <a:r>
              <a:rPr sz="1100">
                <a:latin typeface="Calibri"/>
              </a:rPr>
              <a:t>Closing line: "Everything from this slide on shows exactly how we delivered against this list. No surprises."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Use this slide to set up the next one — the actual numbers — by explaining the rule we're applying.</a:t>
            </a:r>
          </a:p>
          <a:p>
            <a:r>
              <a:rPr sz="1100">
                <a:latin typeface="Calibri"/>
              </a:rPr>
              <a:t>Say something like: "The whole design rests on one rule. Every language we pick has to be in both datasets at the same time. If a language is only in MultiClaim and not in MultiClaimNet, we cannot do the head-to-head comparison we promised."</a:t>
            </a:r>
          </a:p>
          <a:p>
            <a:r>
              <a:rPr sz="1100">
                <a:latin typeface="Calibri"/>
              </a:rPr>
              <a:t>Briefly say what each dataset is:</a:t>
            </a:r>
          </a:p>
          <a:p>
            <a:r>
              <a:rPr sz="1100">
                <a:latin typeface="Calibri"/>
              </a:rPr>
              <a:t>MultiClaim v2 is the new version of the dataset we already mentioned — it is much bigger than version 1, with 435,000 claims and 89,000 social media posts. It is the source of the per-language coverage table we will see on the next slide.</a:t>
            </a:r>
          </a:p>
          <a:p>
            <a:r>
              <a:rPr sz="1100">
                <a:latin typeface="Calibri"/>
              </a:rPr>
              <a:t>MultiClaimNet is a sister dataset published in late 2025. It explicitly covers 86 languages and we have confirmed that Persian and Polish are both in it.</a:t>
            </a:r>
          </a:p>
          <a:p>
            <a:r>
              <a:rPr sz="1100">
                <a:latin typeface="Calibri"/>
              </a:rPr>
              <a:t>The little intersection symbol in the middle is there because we are only using languages that live in both circles at once. That is the data we have to work with.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is the slide where the most important news of the talk lives. Slow down.</a:t>
            </a:r>
          </a:p>
          <a:p>
            <a:r>
              <a:rPr sz="1100">
                <a:latin typeface="Calibri"/>
              </a:rPr>
              <a:t>Walk the audience down the table column by column, but quickly. The two numbers that matter are in the green and red rows.</a:t>
            </a:r>
          </a:p>
          <a:p>
            <a:r>
              <a:rPr sz="1100">
                <a:latin typeface="Calibri"/>
              </a:rPr>
              <a:t>Then point at Persian. Say: "Persian is in both datasets, so it satisfies our rule. But the published table shows only 418 fact-checks and 17 social media posts. The MultiClaim authors themselves say they only report per-language numbers when a language has more than 100 pairs. Persian doesn't clear that bar."</a:t>
            </a:r>
          </a:p>
          <a:p>
            <a:r>
              <a:rPr sz="1100">
                <a:latin typeface="Calibri"/>
              </a:rPr>
              <a:t>Plain-language version: "If we hand a journal reviewer a Persian result based on 17 posts, they will reject the paper. The number is too small to be statistically meaningful."</a:t>
            </a:r>
          </a:p>
          <a:p>
            <a:r>
              <a:rPr sz="1100">
                <a:latin typeface="Calibri"/>
              </a:rPr>
              <a:t>Then point at Malayalam: "Same problem on the post side — only 4 posts. We will explain that in detail on the next slide."</a:t>
            </a:r>
          </a:p>
          <a:p>
            <a:r>
              <a:rPr sz="1100">
                <a:latin typeface="Calibri"/>
              </a:rPr>
              <a:t>Close with: "So Persian becomes an auxiliary probe — we will still report on it, but using a dedicated Persian fact-checking dataset, not MultiClaim. Polish takes the Slavic seat."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slide exists because Malayalam is the one number on the previous table that always raises a hand. Spend about a minute here.</a:t>
            </a:r>
          </a:p>
          <a:p>
            <a:r>
              <a:rPr sz="1100">
                <a:latin typeface="Calibri"/>
              </a:rPr>
              <a:t>Open with the visual: "Look at the big numbers on the left. We have over 1,200 fact-checks in Malayalam — that's actually a respectable index size. But only four social-media posts. Four. That is the entire post-side of Malayalam in MultiClaim v2."</a:t>
            </a:r>
          </a:p>
          <a:p>
            <a:r>
              <a:rPr sz="1100">
                <a:latin typeface="Calibri"/>
              </a:rPr>
              <a:t>Then explain why that matters in plain words: "When you run a retrieval experiment, you need a query and an answer. The fact-checks are the answer side — that's the haystack. The posts are the query side — that's the needles. We have plenty of haystack, but only four needles. You cannot do statistics on four needles."</a:t>
            </a:r>
          </a:p>
          <a:p>
            <a:r>
              <a:rPr sz="1100">
                <a:latin typeface="Calibri"/>
              </a:rPr>
              <a:t>Walk through the four bullets:
- Threshold violated: the dataset authors themselves use 100 as the minimum bar. We are 25 times below that.
- Asymmetric coverage: this isn't a "Malayalam has no data" problem, it's specifically a post-side problem. Worth knowing because it changes the workaround.
- Workaround: we can still run cross-lingual experiments — English posts being matched against Malayalam fact-checks. That tests how well the embedding model bridges scripts, which is exactly what we want for the typological stress sample.
- Honest scope statement: we say all of this out loud in the limitations section. Reviewers will appreciate that we did not hide it.</a:t>
            </a:r>
          </a:p>
          <a:p>
            <a:r>
              <a:rPr sz="1100">
                <a:latin typeface="Calibri"/>
              </a:rPr>
              <a:t>Close: "Malayalam stays in. It just stays in with an asterisk."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is the easiest cluster to explain so use it to build confidence.</a:t>
            </a:r>
          </a:p>
          <a:p>
            <a:r>
              <a:rPr sz="1100">
                <a:latin typeface="Calibri"/>
              </a:rPr>
              <a:t>Plain-language opening: "Think of Cluster 1 as the safe end of the swimming pool. English and German are both Germanic languages. They use the same alphabet, they share a lot of vocabulary, and crucially — most embedding models were trained on a huge amount of English text."</a:t>
            </a:r>
          </a:p>
          <a:p>
            <a:r>
              <a:rPr sz="1100">
                <a:latin typeface="Calibri"/>
              </a:rPr>
              <a:t>Why we picked these two:
- English is the model's home turf. If a model can't handle English, nothing else will work.
- German is close enough to English that the model should mostly cope, but it has more endings on words — der, die, das, dem, den — so when we deliberately introduce typos, German should behave slightly worse than English. That's a useful baseline.</a:t>
            </a:r>
          </a:p>
          <a:p>
            <a:r>
              <a:rPr sz="1100">
                <a:latin typeface="Calibri"/>
              </a:rPr>
              <a:t>Hypothesis in plain English: "If we run our perturbations through this cluster and see massive performance drops here, we know the whole experiment is broken. So Cluster 1 is our quality 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Forty-five seconds. Two messages:</a:t>
            </a:r>
          </a:p>
          <a:p>
            <a:r>
              <a:rPr sz="1100">
                <a:latin typeface="Calibri"/>
              </a:rPr>
              <a:t>Olander is our textbook reference. Every linguist agrees English and German are in the same family — we are not making it up.</a:t>
            </a:r>
          </a:p>
          <a:p>
            <a:r>
              <a:rPr sz="1100">
                <a:latin typeface="Calibri"/>
              </a:rPr>
              <a:t>Konovalov is our evidence locker. They already showed, with real data, that embedding models behave in confused ways across Germanic and Romance languages. Our experiment is the next step: they showed it happens, we show how badly it breaks under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Plain-language framing: "Cluster 2 is one step harder than Cluster 1. Same alphabet, but now the words change shape depending on who is talking and when something happened."</a:t>
            </a:r>
          </a:p>
          <a:p>
            <a:r>
              <a:rPr sz="1100">
                <a:latin typeface="Calibri"/>
              </a:rPr>
              <a:t>Why these three:
- Spanish is the second-largest pool in MultiClaim after English. Lots of data means our results will be statistically reliable.
- French and Italian are linguistic siblings of Spanish — same family, slightly different rules.</a:t>
            </a:r>
          </a:p>
          <a:p>
            <a:r>
              <a:rPr sz="1100">
                <a:latin typeface="Calibri"/>
              </a:rPr>
              <a:t>The 'optional' tag on Italian: "Italian is there if we have room. If we run out of compute budget, dropping Italian is fine. Spanish and French already cover the family."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Forty-five seconds. The key phrase to say out loud:</a:t>
            </a:r>
          </a:p>
          <a:p>
            <a:r>
              <a:rPr sz="1100">
                <a:latin typeface="Calibri"/>
              </a:rPr>
              <a:t>"We are using the dataset paper to defend our data choice — that's not coincidence, that's the cleanest possible chain of evidence. The people who built the dataset already told us where Spanish sits in their data. We are taking their word for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slide does two jobs: introduce Slavic and resolve the Persian question.</a:t>
            </a:r>
          </a:p>
          <a:p>
            <a:r>
              <a:rPr sz="1100">
                <a:latin typeface="Calibri"/>
              </a:rPr>
              <a:t>Open with Slavic: "In W4 we said Cluster 3 would be Slavic with Croatian. We are keeping the Slavic idea but switching the champion to Polish, because Polish has by far the most data in this family — almost 7,000 fact-checks."</a:t>
            </a:r>
          </a:p>
          <a:p>
            <a:r>
              <a:rPr sz="1100">
                <a:latin typeface="Calibri"/>
              </a:rPr>
              <a:t>Then the Persian part. Keep it short and matter-of-fact: "We were specifically asked whether to put Persian in Cluster 3. The honest answer is: the data is simply too thin. Persian appears in both datasets, so it's technically valid, but the sample is far below the threshold for statistically meaningful results. We move on with Polish in the Slavic seat."</a:t>
            </a:r>
          </a:p>
          <a:p>
            <a:r>
              <a:rPr sz="1100">
                <a:latin typeface="Calibri"/>
              </a:rPr>
              <a:t>Why Slavic in plain words: "Slavic languages add little endings to words depending on grammar. So if you mess up just one letter, the meaning can shift. That makes Slavic the perfect language to test the typo perturbation on."</a:t>
            </a:r>
          </a:p>
          <a:p>
            <a:r>
              <a:rPr sz="1100">
                <a:latin typeface="Calibri"/>
              </a:rPr>
              <a:t>Wrap up: "Cluster 3 is where we expect to see the first big drop in performance once we apply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Forty-five seconds. Two messages:</a:t>
            </a:r>
          </a:p>
          <a:p>
            <a:r>
              <a:rPr sz="1100">
                <a:latin typeface="Calibri"/>
              </a:rPr>
              <a:t>Pikuliak Table 5: "This is literally the published table that tells us Persian is too small. We are not making a judgement call — we are following the data."</a:t>
            </a:r>
          </a:p>
          <a:p>
            <a:r>
              <a:rPr sz="1100">
                <a:latin typeface="Calibri"/>
              </a:rPr>
              <a:t>Olander: "This is the linguistic textbook reference. It tells us Persian is in a completely different sub-branch from Slavic, so even if Persian had a lot of data, it would not naturally live in this cluster."</a:t>
            </a:r>
          </a:p>
          <a:p>
            <a:r>
              <a:rPr sz="1100">
                <a:latin typeface="Calibri"/>
              </a:rPr>
              <a:t>Punchline: "Two sources, two clean justifications."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is the most important conceptual slide of the talk. Spend a minute here.</a:t>
            </a:r>
          </a:p>
          <a:p>
            <a:r>
              <a:rPr sz="1100">
                <a:latin typeface="Calibri"/>
              </a:rPr>
              <a:t>Open with: "In W4 these four languages were called Cluster 4 through Cluster 7. We are dropping the word 'cluster' on purpose. These languages are not similar to each other. They are not a group. Each one is a separate stress test for a specific property."</a:t>
            </a:r>
          </a:p>
          <a:p>
            <a:r>
              <a:rPr sz="1100">
                <a:latin typeface="Calibri"/>
              </a:rPr>
              <a:t>Walk through each tile briefly, in plain words:
- Hindi — Devanagari script. Vowels written as marks above/below consonants. Confuses tokenizers built for European writing systems.
- Arabic — written right-to-left, short vowels often missing. Models trained on English struggle.
- Malayalam — words glue together into long compounds. Plus low-resource, so models haven't seen much of it.
- Mandarin — no spaces between words. The model has to figure out word boundaries from characters alone.</a:t>
            </a:r>
          </a:p>
          <a:p>
            <a:r>
              <a:rPr sz="1100">
                <a:latin typeface="Calibri"/>
              </a:rPr>
              <a:t>End with: "Each of these is a different kind of stress test. We are not comparing them to each other. We compare each one separately to the IE clusters as a baseline. That is why the renaming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slide explains the most important methodological move in the redesign — what "orthogonal" means and why we chose these four languages.</a:t>
            </a:r>
          </a:p>
          <a:p>
            <a:r>
              <a:rPr sz="1100">
                <a:latin typeface="Calibri"/>
              </a:rPr>
              <a:t>Open with the navy band at the top: "Orthogonal here means each language probes one specific failure mode the others don't. If Hindi performance drops, we know it's the Abugida script — not the script direction, not the morphology, not the lack of spaces, because those three live in the other three probes."</a:t>
            </a:r>
          </a:p>
          <a:p>
            <a:r>
              <a:rPr sz="1100">
                <a:latin typeface="Calibri"/>
              </a:rPr>
              <a:t>Then walk through each row briefly:</a:t>
            </a:r>
          </a:p>
          <a:p>
            <a:r>
              <a:rPr sz="1100">
                <a:latin typeface="Calibri"/>
              </a:rPr>
              <a:t>Hindi: "Devanagari writes vowels as little marks. The letter क is a 'k', but adding a curl on top makes it 'kā', a different curl makes it 'ki'. Most tokenizers were never taught this, so they cut at the wrong places."</a:t>
            </a:r>
          </a:p>
          <a:p>
            <a:r>
              <a:rPr sz="1100">
                <a:latin typeface="Calibri"/>
              </a:rPr>
              <a:t>Arabic: "Arabic is built around three-letter roots. The root k-t-b means 'writing', and you build dozens of words by adding vowel patterns. Embedding models should know that 'kitab' (book) and 'maktab' (office) are related — they share a root. We can test whether they actually do."</a:t>
            </a:r>
          </a:p>
          <a:p>
            <a:r>
              <a:rPr sz="1100">
                <a:latin typeface="Calibri"/>
              </a:rPr>
              <a:t>Malayalam: "Malayalam glues morphemes together. A whole sentence can be one word. The tokenizer has to cut this compound into useful pieces. If it cuts wrong, the semantics break."</a:t>
            </a:r>
          </a:p>
          <a:p>
            <a:r>
              <a:rPr sz="1100">
                <a:latin typeface="Calibri"/>
              </a:rPr>
              <a:t>Mandarin: "No whitespace, ever. 我喜欢猫 — five characters, three words: 'I like cats'. The model has to figure out the word boundaries from the characters alone. This is genuinely a hard problem."</a:t>
            </a:r>
          </a:p>
          <a:p>
            <a:r>
              <a:rPr sz="1100">
                <a:latin typeface="Calibri"/>
              </a:rPr>
              <a:t>Close: "Four different probes, four different failure modes. That's why this is called a stress sample, not a cluster."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two papers work together. One justifies the language choice, the other justifies the renaming.</a:t>
            </a:r>
          </a:p>
          <a:p>
            <a:r>
              <a:rPr sz="1100">
                <a:latin typeface="Calibri"/>
              </a:rPr>
              <a:t>Joshi 2020: "This paper tells us how much data exists for each language. It gives us a second dimension on top of typology — namely, how much the model has seen during training. If we just said 'these are typologically diverse', a reviewer might counter 'but they are all also low-resource, so what are you really testing?' Joshi lets us separate those two things."</a:t>
            </a:r>
          </a:p>
          <a:p>
            <a:r>
              <a:rPr sz="1100">
                <a:latin typeface="Calibri"/>
              </a:rPr>
              <a:t>Ploeger 2024: "This is the paper that warns the field not to confuse 'language family' with 'typological diversity'. By renaming our group to Typological Stress Sample, we are explicitly answering Ploeger's critique. A reviewer who reads this paper will see we took the warning seriously."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summary slide. Use it to anchor the whole talk in one visual.</a:t>
            </a:r>
          </a:p>
          <a:p>
            <a:r>
              <a:rPr sz="1100">
                <a:latin typeface="Calibri"/>
              </a:rPr>
              <a:t>Read across the four columns in plain words:</a:t>
            </a:r>
          </a:p>
          <a:p>
            <a:r>
              <a:rPr sz="1100">
                <a:latin typeface="Calibri"/>
              </a:rPr>
              <a:t>"From left to right — easier to harder. Cluster 1 is our safety net: same family, same alphabet, mostly the same vocabulary roots. Cluster 2 is one step harder: still Latin alphabet, but the words change shape based on gender and tense. Cluster 3 is harder still: same script idea but endings explode in complexity. The Stress Sample drops the comfort zone entirely. Different scripts, different writing direction, different rules about what counts as a word."</a:t>
            </a:r>
          </a:p>
          <a:p>
            <a:r>
              <a:rPr sz="1100">
                <a:latin typeface="Calibri"/>
              </a:rPr>
              <a:t>End on the navy strip at the bottom: "Three family-based clusters set the floor. The Stress Sample sets the ceiling for typological challenge. That symmetry is what makes the design publishable."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Use this slide to demonstrate momentum.</a:t>
            </a:r>
          </a:p>
          <a:p>
            <a:r>
              <a:rPr sz="1100">
                <a:latin typeface="Calibri"/>
              </a:rPr>
              <a:t>Open with: "Here are three concrete experiments we could spin up next week. They build on the cluster scheme but extend it — each one produces evidence we can later cite in the paper."</a:t>
            </a:r>
          </a:p>
          <a:p>
            <a:r>
              <a:rPr sz="1100">
                <a:latin typeface="Calibri"/>
              </a:rPr>
              <a:t>Briefly walk through each step. Use the plain-language phrasing:</a:t>
            </a:r>
          </a:p>
          <a:p>
            <a:r>
              <a:rPr sz="1100">
                <a:latin typeface="Calibri"/>
              </a:rPr>
              <a:t>Step 1: "There is a Python library called lang2vec that knows 289 grammatical features for over 4,000 languages. We feed it our 9 languages, it spits out a colored grid of how different they are. The grid is itself a figure we can put straight into the paper."</a:t>
            </a:r>
          </a:p>
          <a:p>
            <a:r>
              <a:rPr sz="1100">
                <a:latin typeface="Calibri"/>
              </a:rPr>
              <a:t>Step 2: "Embedding models do not see whole words — they break words into pieces. For some languages they break too aggressively, like cutting a sentence into syllables. We can measure that on FLORES-200, which is a public parallel corpus, and visualize where each model struggles."</a:t>
            </a:r>
          </a:p>
          <a:p>
            <a:r>
              <a:rPr sz="1100">
                <a:latin typeface="Calibri"/>
              </a:rPr>
              <a:t>Step 3: "We can apply our planned perturbations — typos, casing, negation — to public sentences first, before touching MultiClaim. That way we know the perturbation factory works correctly when the real data arrives."</a:t>
            </a:r>
          </a:p>
          <a:p>
            <a:r>
              <a:rPr sz="1100">
                <a:latin typeface="Calibri"/>
              </a:rPr>
              <a:t>End: "Each of these can be done in parallel between Justus, Luna, and me before W6."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Closing posture: relaxed, invite real critique.</a:t>
            </a:r>
          </a:p>
          <a:p>
            <a:r>
              <a:rPr sz="1100">
                <a:latin typeface="Calibri"/>
              </a:rPr>
              <a:t>Suggested line: "That's the redesign. Before we open it up — the two pieces I most want feedback on are (a) whether 'Typological Stress Sample' is the right name, and (b) the three follow-up tests we could start next week."</a:t>
            </a:r>
          </a:p>
          <a:p>
            <a:r>
              <a:rPr sz="1100">
                <a:latin typeface="Calibri"/>
              </a:rPr>
              <a:t>Then take questions. Keep answers short.</a:t>
            </a:r>
          </a:p>
          <a:p>
            <a:r>
              <a:rPr sz="1100">
                <a:latin typeface="Calibri"/>
              </a:rPr>
              <a:t>Final thing if there's time: thank Justus and Luna by name. It always lands well.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960000">
            <a:off x="8046720" y="-1371600"/>
            <a:ext cx="6400800" cy="96012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960000">
            <a:off x="8686800" y="-1828800"/>
            <a:ext cx="228600" cy="1005840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468880"/>
            <a:ext cx="73152" cy="237744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10058400" cy="365760"/>
          </a:xfrm>
          <a:prstGeom prst="rect">
            <a:avLst/>
          </a:prstGeom>
          <a:noFill/>
        </p:spPr>
        <p:txBody>
          <a:bodyPr wrap="square" lIns="0" rIns="0" tIns="0" bIns="0" anchor="t">
            <a:spAutoFit/>
          </a:bodyPr>
          <a:lstStyle/>
          <a:p>
            <a:pPr algn="l"/>
            <a:r>
              <a:rPr sz="1200" b="1" i="0">
                <a:solidFill>
                  <a:srgbClr val="E09A36"/>
                </a:solidFill>
                <a:latin typeface="Calibri"/>
              </a:rPr>
              <a:t>W5  ·  RESEARCH DESIGN UPDATE</a:t>
            </a:r>
          </a:p>
        </p:txBody>
      </p:sp>
      <p:sp>
        <p:nvSpPr>
          <p:cNvPr id="7" name="TextBox 6"/>
          <p:cNvSpPr txBox="1"/>
          <p:nvPr/>
        </p:nvSpPr>
        <p:spPr>
          <a:xfrm>
            <a:off x="777240" y="2377440"/>
            <a:ext cx="10058400" cy="1371600"/>
          </a:xfrm>
          <a:prstGeom prst="rect">
            <a:avLst/>
          </a:prstGeom>
          <a:noFill/>
        </p:spPr>
        <p:txBody>
          <a:bodyPr wrap="square" lIns="0" rIns="0" tIns="0" bIns="0" anchor="t">
            <a:spAutoFit/>
          </a:bodyPr>
          <a:lstStyle/>
          <a:p>
            <a:pPr algn="l"/>
            <a:r>
              <a:rPr sz="4400" b="1" i="0">
                <a:solidFill>
                  <a:srgbClr val="FFFFFF"/>
                </a:solidFill>
                <a:latin typeface="Calibri"/>
              </a:rPr>
              <a:t>Re-Designing the Language
Sampling Strategy</a:t>
            </a:r>
          </a:p>
        </p:txBody>
      </p:sp>
      <p:sp>
        <p:nvSpPr>
          <p:cNvPr id="8" name="TextBox 7"/>
          <p:cNvSpPr txBox="1"/>
          <p:nvPr/>
        </p:nvSpPr>
        <p:spPr>
          <a:xfrm>
            <a:off x="777240" y="4297680"/>
            <a:ext cx="10058400" cy="457200"/>
          </a:xfrm>
          <a:prstGeom prst="rect">
            <a:avLst/>
          </a:prstGeom>
          <a:noFill/>
        </p:spPr>
        <p:txBody>
          <a:bodyPr wrap="square" lIns="0" rIns="0" tIns="0" bIns="0" anchor="t">
            <a:spAutoFit/>
          </a:bodyPr>
          <a:lstStyle/>
          <a:p>
            <a:pPr algn="l"/>
            <a:r>
              <a:rPr sz="1800" b="0" i="1">
                <a:solidFill>
                  <a:srgbClr val="ECF2F7"/>
                </a:solidFill>
                <a:latin typeface="Calibri"/>
              </a:rPr>
              <a:t>Multilingual, Cross-Task, and Compositional Robustness of</a:t>
            </a:r>
          </a:p>
        </p:txBody>
      </p:sp>
      <p:sp>
        <p:nvSpPr>
          <p:cNvPr id="9" name="TextBox 8"/>
          <p:cNvSpPr txBox="1"/>
          <p:nvPr/>
        </p:nvSpPr>
        <p:spPr>
          <a:xfrm>
            <a:off x="777240" y="4617720"/>
            <a:ext cx="10058400" cy="457200"/>
          </a:xfrm>
          <a:prstGeom prst="rect">
            <a:avLst/>
          </a:prstGeom>
          <a:noFill/>
        </p:spPr>
        <p:txBody>
          <a:bodyPr wrap="square" lIns="0" rIns="0" tIns="0" bIns="0" anchor="t">
            <a:spAutoFit/>
          </a:bodyPr>
          <a:lstStyle/>
          <a:p>
            <a:pPr algn="l"/>
            <a:r>
              <a:rPr sz="1800" b="0" i="1">
                <a:solidFill>
                  <a:srgbClr val="ECF2F7"/>
                </a:solidFill>
                <a:latin typeface="Calibri"/>
              </a:rPr>
              <a:t>Embedding Models in Fact-Checking Pipelines</a:t>
            </a:r>
          </a:p>
        </p:txBody>
      </p:sp>
      <p:sp>
        <p:nvSpPr>
          <p:cNvPr id="10" name="TextBox 9"/>
          <p:cNvSpPr txBox="1"/>
          <p:nvPr/>
        </p:nvSpPr>
        <p:spPr>
          <a:xfrm>
            <a:off x="777240" y="5852160"/>
            <a:ext cx="10058400" cy="365760"/>
          </a:xfrm>
          <a:prstGeom prst="rect">
            <a:avLst/>
          </a:prstGeom>
          <a:noFill/>
        </p:spPr>
        <p:txBody>
          <a:bodyPr wrap="square" lIns="0" rIns="0" tIns="0" bIns="0" anchor="t">
            <a:spAutoFit/>
          </a:bodyPr>
          <a:lstStyle/>
          <a:p>
            <a:pPr algn="l"/>
            <a:r>
              <a:rPr sz="1200" b="0" i="0">
                <a:solidFill>
                  <a:srgbClr val="ECF2F7"/>
                </a:solidFill>
                <a:latin typeface="Calibri"/>
              </a:rPr>
              <a:t>Justus von Voß  ·  Benjamin Masberg  ·  Luna Brauwers</a:t>
            </a:r>
          </a:p>
        </p:txBody>
      </p:sp>
      <p:sp>
        <p:nvSpPr>
          <p:cNvPr id="11" name="TextBox 10"/>
          <p:cNvSpPr txBox="1"/>
          <p:nvPr/>
        </p:nvSpPr>
        <p:spPr>
          <a:xfrm>
            <a:off x="777240" y="6172200"/>
            <a:ext cx="10058400" cy="274320"/>
          </a:xfrm>
          <a:prstGeom prst="rect">
            <a:avLst/>
          </a:prstGeom>
          <a:noFill/>
        </p:spPr>
        <p:txBody>
          <a:bodyPr wrap="square" lIns="0" rIns="0" tIns="0" bIns="0" anchor="t">
            <a:spAutoFit/>
          </a:bodyPr>
          <a:lstStyle/>
          <a:p>
            <a:pPr algn="l"/>
            <a:r>
              <a:rPr sz="1100" b="0" i="1">
                <a:solidFill>
                  <a:srgbClr val="ECF2F7"/>
                </a:solidFill>
                <a:latin typeface="Calibri"/>
              </a:rPr>
              <a:t>19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FROM W4 TO W5</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Updating the scheme to match the new requirements</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5394960" cy="443484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164592" cy="443484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20240"/>
            <a:ext cx="4572000" cy="365760"/>
          </a:xfrm>
          <a:prstGeom prst="rect">
            <a:avLst/>
          </a:prstGeom>
          <a:noFill/>
        </p:spPr>
        <p:txBody>
          <a:bodyPr wrap="square" lIns="0" rIns="0" tIns="0" bIns="0" anchor="t">
            <a:spAutoFit/>
          </a:bodyPr>
          <a:lstStyle/>
          <a:p>
            <a:pPr algn="l"/>
            <a:r>
              <a:rPr sz="1400" b="1" i="0">
                <a:solidFill>
                  <a:srgbClr val="0A4E7A"/>
                </a:solidFill>
                <a:latin typeface="Calibri"/>
              </a:rPr>
              <a:t>W4 — what we proposed</a:t>
            </a:r>
          </a:p>
        </p:txBody>
      </p:sp>
      <p:sp>
        <p:nvSpPr>
          <p:cNvPr id="10" name="TextBox 9"/>
          <p:cNvSpPr txBox="1"/>
          <p:nvPr/>
        </p:nvSpPr>
        <p:spPr>
          <a:xfrm>
            <a:off x="868680" y="2286000"/>
            <a:ext cx="4572000" cy="365760"/>
          </a:xfrm>
          <a:prstGeom prst="rect">
            <a:avLst/>
          </a:prstGeom>
          <a:noFill/>
        </p:spPr>
        <p:txBody>
          <a:bodyPr wrap="square" lIns="0" rIns="0" tIns="0" bIns="0" anchor="t">
            <a:spAutoFit/>
          </a:bodyPr>
          <a:lstStyle/>
          <a:p>
            <a:pPr algn="l"/>
            <a:r>
              <a:rPr sz="1800" b="1" i="0">
                <a:solidFill>
                  <a:srgbClr val="141E46"/>
                </a:solidFill>
                <a:latin typeface="Calibri"/>
              </a:rPr>
              <a:t>Seven phylogenetic clusters</a:t>
            </a:r>
          </a:p>
        </p:txBody>
      </p:sp>
      <p:sp>
        <p:nvSpPr>
          <p:cNvPr id="11" name="TextBox 10"/>
          <p:cNvSpPr txBox="1"/>
          <p:nvPr/>
        </p:nvSpPr>
        <p:spPr>
          <a:xfrm>
            <a:off x="868680" y="2880360"/>
            <a:ext cx="4754880" cy="3200400"/>
          </a:xfrm>
          <a:prstGeom prst="rect">
            <a:avLst/>
          </a:prstGeom>
          <a:noFill/>
        </p:spPr>
        <p:txBody>
          <a:bodyPr wrap="square" lIns="0" rIns="0" tIns="0" bIns="0" anchor="t">
            <a:spAutoFit/>
          </a:bodyPr>
          <a:lstStyle/>
          <a:p>
            <a:pPr algn="l">
              <a:spcBef>
                <a:spcPts val="0"/>
              </a:spcBef>
              <a:spcAft>
                <a:spcPts val="600"/>
              </a:spcAft>
            </a:pPr>
            <a:r>
              <a:rPr sz="1250" b="0" i="0">
                <a:solidFill>
                  <a:srgbClr val="1A1E2A"/>
                </a:solidFill>
                <a:latin typeface="Calibri"/>
              </a:rPr>
              <a:t/>
            </a:r>
            <a:r>
              <a:rPr sz="1250" b="1">
                <a:solidFill>
                  <a:srgbClr val="0A4E7A"/>
                </a:solidFill>
                <a:latin typeface="Calibri"/>
              </a:rPr>
              <a:t>•  </a:t>
            </a:r>
            <a:r>
              <a:rPr sz="1250">
                <a:solidFill>
                  <a:srgbClr val="1A1E2A"/>
                </a:solidFill>
                <a:latin typeface="Calibri"/>
              </a:rPr>
              <a:t>Cluster 1 — Germanic — English</a:t>
            </a:r>
          </a:p>
          <a:p>
            <a:pPr algn="l">
              <a:spcBef>
                <a:spcPts val="0"/>
              </a:spcBef>
              <a:spcAft>
                <a:spcPts val="600"/>
              </a:spcAft>
            </a:pPr>
            <a:r>
              <a:rPr sz="1250" b="1">
                <a:solidFill>
                  <a:srgbClr val="0A4E7A"/>
                </a:solidFill>
                <a:latin typeface="Calibri"/>
              </a:rPr>
              <a:t>•  </a:t>
            </a:r>
            <a:r>
              <a:rPr sz="1250">
                <a:solidFill>
                  <a:srgbClr val="1A1E2A"/>
                </a:solidFill>
                <a:latin typeface="Calibri"/>
              </a:rPr>
              <a:t>Cluster 2 — Romance — Spanish</a:t>
            </a:r>
          </a:p>
          <a:p>
            <a:pPr algn="l">
              <a:spcBef>
                <a:spcPts val="0"/>
              </a:spcBef>
              <a:spcAft>
                <a:spcPts val="600"/>
              </a:spcAft>
            </a:pPr>
            <a:r>
              <a:rPr sz="1250" b="1">
                <a:solidFill>
                  <a:srgbClr val="0A4E7A"/>
                </a:solidFill>
                <a:latin typeface="Calibri"/>
              </a:rPr>
              <a:t>•  </a:t>
            </a:r>
            <a:r>
              <a:rPr sz="1250">
                <a:solidFill>
                  <a:srgbClr val="1A1E2A"/>
                </a:solidFill>
                <a:latin typeface="Calibri"/>
              </a:rPr>
              <a:t>Cluster 3 — Slavic — Croatian</a:t>
            </a:r>
          </a:p>
          <a:p>
            <a:pPr algn="l">
              <a:spcBef>
                <a:spcPts val="0"/>
              </a:spcBef>
              <a:spcAft>
                <a:spcPts val="600"/>
              </a:spcAft>
            </a:pPr>
            <a:r>
              <a:rPr sz="1250" b="1">
                <a:solidFill>
                  <a:srgbClr val="0A4E7A"/>
                </a:solidFill>
                <a:latin typeface="Calibri"/>
              </a:rPr>
              <a:t>•  </a:t>
            </a:r>
            <a:r>
              <a:rPr sz="1250">
                <a:solidFill>
                  <a:srgbClr val="1A1E2A"/>
                </a:solidFill>
                <a:latin typeface="Calibri"/>
              </a:rPr>
              <a:t>Cluster 4 — Indo-Aryan — Hindi</a:t>
            </a:r>
          </a:p>
          <a:p>
            <a:pPr algn="l">
              <a:spcBef>
                <a:spcPts val="0"/>
              </a:spcBef>
              <a:spcAft>
                <a:spcPts val="600"/>
              </a:spcAft>
            </a:pPr>
            <a:r>
              <a:rPr sz="1250" b="1">
                <a:solidFill>
                  <a:srgbClr val="0A4E7A"/>
                </a:solidFill>
                <a:latin typeface="Calibri"/>
              </a:rPr>
              <a:t>•  </a:t>
            </a:r>
            <a:r>
              <a:rPr sz="1250">
                <a:solidFill>
                  <a:srgbClr val="1A1E2A"/>
                </a:solidFill>
                <a:latin typeface="Calibri"/>
              </a:rPr>
              <a:t>Cluster 5 — Semitic — Arabic</a:t>
            </a:r>
          </a:p>
          <a:p>
            <a:pPr algn="l">
              <a:spcBef>
                <a:spcPts val="0"/>
              </a:spcBef>
              <a:spcAft>
                <a:spcPts val="600"/>
              </a:spcAft>
            </a:pPr>
            <a:r>
              <a:rPr sz="1250" b="1">
                <a:solidFill>
                  <a:srgbClr val="0A4E7A"/>
                </a:solidFill>
                <a:latin typeface="Calibri"/>
              </a:rPr>
              <a:t>•  </a:t>
            </a:r>
            <a:r>
              <a:rPr sz="1250">
                <a:solidFill>
                  <a:srgbClr val="1A1E2A"/>
                </a:solidFill>
                <a:latin typeface="Calibri"/>
              </a:rPr>
              <a:t>Cluster 6 — Dravidian — Malayalam</a:t>
            </a:r>
          </a:p>
          <a:p>
            <a:pPr algn="l">
              <a:spcBef>
                <a:spcPts val="0"/>
              </a:spcBef>
              <a:spcAft>
                <a:spcPts val="600"/>
              </a:spcAft>
            </a:pPr>
            <a:r>
              <a:rPr sz="1250" b="1">
                <a:solidFill>
                  <a:srgbClr val="0A4E7A"/>
                </a:solidFill>
                <a:latin typeface="Calibri"/>
              </a:rPr>
              <a:t>•  </a:t>
            </a:r>
            <a:r>
              <a:rPr sz="1250">
                <a:solidFill>
                  <a:srgbClr val="1A1E2A"/>
                </a:solidFill>
                <a:latin typeface="Calibri"/>
              </a:rPr>
              <a:t>Cluster 7 — Sino-Tibetan — Mandarin</a:t>
            </a:r>
          </a:p>
        </p:txBody>
      </p:sp>
      <p:sp>
        <p:nvSpPr>
          <p:cNvPr id="12" name="Right Arrow 11"/>
          <p:cNvSpPr/>
          <p:nvPr/>
        </p:nvSpPr>
        <p:spPr>
          <a:xfrm>
            <a:off x="5989320" y="3566160"/>
            <a:ext cx="548640" cy="640080"/>
          </a:xfrm>
          <a:prstGeom prst="rightArrow">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737360"/>
            <a:ext cx="5120640" cy="443484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737360"/>
            <a:ext cx="164592" cy="443484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1920240"/>
            <a:ext cx="4572000" cy="365760"/>
          </a:xfrm>
          <a:prstGeom prst="rect">
            <a:avLst/>
          </a:prstGeom>
          <a:noFill/>
        </p:spPr>
        <p:txBody>
          <a:bodyPr wrap="square" lIns="0" rIns="0" tIns="0" bIns="0" anchor="t">
            <a:spAutoFit/>
          </a:bodyPr>
          <a:lstStyle/>
          <a:p>
            <a:pPr algn="l"/>
            <a:r>
              <a:rPr sz="1400" b="1" i="0">
                <a:solidFill>
                  <a:srgbClr val="E09A36"/>
                </a:solidFill>
                <a:latin typeface="Calibri"/>
              </a:rPr>
              <a:t>Your requirements</a:t>
            </a:r>
          </a:p>
        </p:txBody>
      </p:sp>
      <p:sp>
        <p:nvSpPr>
          <p:cNvPr id="16" name="TextBox 15"/>
          <p:cNvSpPr txBox="1"/>
          <p:nvPr/>
        </p:nvSpPr>
        <p:spPr>
          <a:xfrm>
            <a:off x="7040880" y="2286000"/>
            <a:ext cx="4572000" cy="365760"/>
          </a:xfrm>
          <a:prstGeom prst="rect">
            <a:avLst/>
          </a:prstGeom>
          <a:noFill/>
        </p:spPr>
        <p:txBody>
          <a:bodyPr wrap="square" lIns="0" rIns="0" tIns="0" bIns="0" anchor="t">
            <a:spAutoFit/>
          </a:bodyPr>
          <a:lstStyle/>
          <a:p>
            <a:pPr algn="l"/>
            <a:r>
              <a:rPr sz="1800" b="1" i="0">
                <a:solidFill>
                  <a:srgbClr val="141E46"/>
                </a:solidFill>
                <a:latin typeface="Calibri"/>
              </a:rPr>
              <a:t>Three IE clusters + one sampling group</a:t>
            </a:r>
          </a:p>
        </p:txBody>
      </p:sp>
      <p:sp>
        <p:nvSpPr>
          <p:cNvPr id="17" name="Rectangle 16"/>
          <p:cNvSpPr/>
          <p:nvPr/>
        </p:nvSpPr>
        <p:spPr>
          <a:xfrm>
            <a:off x="7040880" y="2880360"/>
            <a:ext cx="502920" cy="384048"/>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916936"/>
            <a:ext cx="502920" cy="365760"/>
          </a:xfrm>
          <a:prstGeom prst="rect">
            <a:avLst/>
          </a:prstGeom>
          <a:noFill/>
        </p:spPr>
        <p:txBody>
          <a:bodyPr wrap="square" lIns="0" rIns="0" tIns="0" bIns="0" anchor="t">
            <a:spAutoFit/>
          </a:bodyPr>
          <a:lstStyle/>
          <a:p>
            <a:pPr algn="ctr"/>
            <a:r>
              <a:rPr sz="1200" b="1" i="0">
                <a:solidFill>
                  <a:srgbClr val="FFFFFF"/>
                </a:solidFill>
                <a:latin typeface="Calibri"/>
              </a:rPr>
              <a:t>C1</a:t>
            </a:r>
          </a:p>
        </p:txBody>
      </p:sp>
      <p:sp>
        <p:nvSpPr>
          <p:cNvPr id="19" name="TextBox 18"/>
          <p:cNvSpPr txBox="1"/>
          <p:nvPr/>
        </p:nvSpPr>
        <p:spPr>
          <a:xfrm>
            <a:off x="7635240" y="2953512"/>
            <a:ext cx="3931920" cy="365760"/>
          </a:xfrm>
          <a:prstGeom prst="rect">
            <a:avLst/>
          </a:prstGeom>
          <a:noFill/>
        </p:spPr>
        <p:txBody>
          <a:bodyPr wrap="square" lIns="0" rIns="0" tIns="0" bIns="0" anchor="t">
            <a:spAutoFit/>
          </a:bodyPr>
          <a:lstStyle/>
          <a:p>
            <a:pPr algn="l"/>
            <a:r>
              <a:rPr sz="1250" b="0" i="0">
                <a:solidFill>
                  <a:srgbClr val="1A1E2A"/>
                </a:solidFill>
                <a:latin typeface="Calibri"/>
              </a:rPr>
              <a:t>English  +  German</a:t>
            </a:r>
          </a:p>
        </p:txBody>
      </p:sp>
      <p:sp>
        <p:nvSpPr>
          <p:cNvPr id="20" name="Rectangle 19"/>
          <p:cNvSpPr/>
          <p:nvPr/>
        </p:nvSpPr>
        <p:spPr>
          <a:xfrm>
            <a:off x="7040880" y="3392424"/>
            <a:ext cx="502920" cy="384048"/>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3429000"/>
            <a:ext cx="502920" cy="365760"/>
          </a:xfrm>
          <a:prstGeom prst="rect">
            <a:avLst/>
          </a:prstGeom>
          <a:noFill/>
        </p:spPr>
        <p:txBody>
          <a:bodyPr wrap="square" lIns="0" rIns="0" tIns="0" bIns="0" anchor="t">
            <a:spAutoFit/>
          </a:bodyPr>
          <a:lstStyle/>
          <a:p>
            <a:pPr algn="ctr"/>
            <a:r>
              <a:rPr sz="1200" b="1" i="0">
                <a:solidFill>
                  <a:srgbClr val="FFFFFF"/>
                </a:solidFill>
                <a:latin typeface="Calibri"/>
              </a:rPr>
              <a:t>C2</a:t>
            </a:r>
          </a:p>
        </p:txBody>
      </p:sp>
      <p:sp>
        <p:nvSpPr>
          <p:cNvPr id="22" name="TextBox 21"/>
          <p:cNvSpPr txBox="1"/>
          <p:nvPr/>
        </p:nvSpPr>
        <p:spPr>
          <a:xfrm>
            <a:off x="7635240" y="3465576"/>
            <a:ext cx="3931920" cy="365760"/>
          </a:xfrm>
          <a:prstGeom prst="rect">
            <a:avLst/>
          </a:prstGeom>
          <a:noFill/>
        </p:spPr>
        <p:txBody>
          <a:bodyPr wrap="square" lIns="0" rIns="0" tIns="0" bIns="0" anchor="t">
            <a:spAutoFit/>
          </a:bodyPr>
          <a:lstStyle/>
          <a:p>
            <a:pPr algn="l"/>
            <a:r>
              <a:rPr sz="1250" b="0" i="0">
                <a:solidFill>
                  <a:srgbClr val="1A1E2A"/>
                </a:solidFill>
                <a:latin typeface="Calibri"/>
              </a:rPr>
              <a:t>Spanish, French  (Italian optional)</a:t>
            </a:r>
          </a:p>
        </p:txBody>
      </p:sp>
      <p:sp>
        <p:nvSpPr>
          <p:cNvPr id="23" name="Rectangle 22"/>
          <p:cNvSpPr/>
          <p:nvPr/>
        </p:nvSpPr>
        <p:spPr>
          <a:xfrm>
            <a:off x="7040880" y="3904488"/>
            <a:ext cx="502920" cy="384048"/>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3941064"/>
            <a:ext cx="502920" cy="365760"/>
          </a:xfrm>
          <a:prstGeom prst="rect">
            <a:avLst/>
          </a:prstGeom>
          <a:noFill/>
        </p:spPr>
        <p:txBody>
          <a:bodyPr wrap="square" lIns="0" rIns="0" tIns="0" bIns="0" anchor="t">
            <a:spAutoFit/>
          </a:bodyPr>
          <a:lstStyle/>
          <a:p>
            <a:pPr algn="ctr"/>
            <a:r>
              <a:rPr sz="1200" b="1" i="0">
                <a:solidFill>
                  <a:srgbClr val="FFFFFF"/>
                </a:solidFill>
                <a:latin typeface="Calibri"/>
              </a:rPr>
              <a:t>C3</a:t>
            </a:r>
          </a:p>
        </p:txBody>
      </p:sp>
      <p:sp>
        <p:nvSpPr>
          <p:cNvPr id="25" name="TextBox 24"/>
          <p:cNvSpPr txBox="1"/>
          <p:nvPr/>
        </p:nvSpPr>
        <p:spPr>
          <a:xfrm>
            <a:off x="7635240" y="3977640"/>
            <a:ext cx="3931920" cy="365760"/>
          </a:xfrm>
          <a:prstGeom prst="rect">
            <a:avLst/>
          </a:prstGeom>
          <a:noFill/>
        </p:spPr>
        <p:txBody>
          <a:bodyPr wrap="square" lIns="0" rIns="0" tIns="0" bIns="0" anchor="t">
            <a:spAutoFit/>
          </a:bodyPr>
          <a:lstStyle/>
          <a:p>
            <a:pPr algn="l"/>
            <a:r>
              <a:rPr sz="1250" b="0" i="0">
                <a:solidFill>
                  <a:srgbClr val="1A1E2A"/>
                </a:solidFill>
                <a:latin typeface="Calibri"/>
              </a:rPr>
              <a:t>Check Persian — otherwise rest is fine</a:t>
            </a:r>
          </a:p>
        </p:txBody>
      </p:sp>
      <p:sp>
        <p:nvSpPr>
          <p:cNvPr id="26" name="Rectangle 25"/>
          <p:cNvSpPr/>
          <p:nvPr/>
        </p:nvSpPr>
        <p:spPr>
          <a:xfrm>
            <a:off x="7040880" y="4416552"/>
            <a:ext cx="502920" cy="384048"/>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4453128"/>
            <a:ext cx="502920" cy="365760"/>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28" name="TextBox 27"/>
          <p:cNvSpPr txBox="1"/>
          <p:nvPr/>
        </p:nvSpPr>
        <p:spPr>
          <a:xfrm>
            <a:off x="7635240" y="4489704"/>
            <a:ext cx="3931920" cy="365760"/>
          </a:xfrm>
          <a:prstGeom prst="rect">
            <a:avLst/>
          </a:prstGeom>
          <a:noFill/>
        </p:spPr>
        <p:txBody>
          <a:bodyPr wrap="square" lIns="0" rIns="0" tIns="0" bIns="0" anchor="t">
            <a:spAutoFit/>
          </a:bodyPr>
          <a:lstStyle/>
          <a:p>
            <a:pPr algn="l"/>
            <a:r>
              <a:rPr sz="1250" b="0" i="0">
                <a:solidFill>
                  <a:srgbClr val="1A1E2A"/>
                </a:solidFill>
                <a:latin typeface="Calibri"/>
              </a:rPr>
              <a:t>Merge C4–C7 into one group</a:t>
            </a:r>
          </a:p>
        </p:txBody>
      </p:sp>
      <p:sp>
        <p:nvSpPr>
          <p:cNvPr id="29" name="Rectangle 28"/>
          <p:cNvSpPr/>
          <p:nvPr/>
        </p:nvSpPr>
        <p:spPr>
          <a:xfrm>
            <a:off x="7040880" y="4928616"/>
            <a:ext cx="502920" cy="384048"/>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0" y="4965192"/>
            <a:ext cx="502920" cy="365760"/>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31" name="TextBox 30"/>
          <p:cNvSpPr txBox="1"/>
          <p:nvPr/>
        </p:nvSpPr>
        <p:spPr>
          <a:xfrm>
            <a:off x="7635240" y="5001768"/>
            <a:ext cx="3931920" cy="365760"/>
          </a:xfrm>
          <a:prstGeom prst="rect">
            <a:avLst/>
          </a:prstGeom>
          <a:noFill/>
        </p:spPr>
        <p:txBody>
          <a:bodyPr wrap="square" lIns="0" rIns="0" tIns="0" bIns="0" anchor="t">
            <a:spAutoFit/>
          </a:bodyPr>
          <a:lstStyle/>
          <a:p>
            <a:pPr algn="l"/>
            <a:r>
              <a:rPr sz="1250" b="0" i="0">
                <a:solidFill>
                  <a:srgbClr val="1A1E2A"/>
                </a:solidFill>
                <a:latin typeface="Calibri"/>
              </a:rPr>
              <a:t>Drop the word "cluster" — pick a new name</a:t>
            </a:r>
          </a:p>
        </p:txBody>
      </p:sp>
      <p:sp>
        <p:nvSpPr>
          <p:cNvPr id="32" name="Rectangle 31"/>
          <p:cNvSpPr/>
          <p:nvPr/>
        </p:nvSpPr>
        <p:spPr>
          <a:xfrm>
            <a:off x="7040880" y="5440680"/>
            <a:ext cx="502920" cy="384048"/>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0" y="5477256"/>
            <a:ext cx="502920" cy="365760"/>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34" name="TextBox 33"/>
          <p:cNvSpPr txBox="1"/>
          <p:nvPr/>
        </p:nvSpPr>
        <p:spPr>
          <a:xfrm>
            <a:off x="7635240" y="5513832"/>
            <a:ext cx="3931920" cy="365760"/>
          </a:xfrm>
          <a:prstGeom prst="rect">
            <a:avLst/>
          </a:prstGeom>
          <a:noFill/>
        </p:spPr>
        <p:txBody>
          <a:bodyPr wrap="square" lIns="0" rIns="0" tIns="0" bIns="0" anchor="t">
            <a:spAutoFit/>
          </a:bodyPr>
          <a:lstStyle/>
          <a:p>
            <a:pPr algn="l"/>
            <a:r>
              <a:rPr sz="1250" b="0" i="0">
                <a:solidFill>
                  <a:srgbClr val="1A1E2A"/>
                </a:solidFill>
                <a:latin typeface="Calibri"/>
              </a:rPr>
              <a:t>Link source papers for every choice</a:t>
            </a:r>
          </a:p>
        </p:txBody>
      </p:sp>
      <p:sp>
        <p:nvSpPr>
          <p:cNvPr id="35" name="TextBox 34"/>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36" name="TextBox 35"/>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DATA AVAILABILITY VERIFICATION</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Every language must live in BOTH datasets</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11155680" cy="420624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10515600" cy="457200"/>
          </a:xfrm>
          <a:prstGeom prst="rect">
            <a:avLst/>
          </a:prstGeom>
          <a:noFill/>
        </p:spPr>
        <p:txBody>
          <a:bodyPr wrap="square" lIns="0" rIns="0" tIns="0" bIns="0" anchor="t">
            <a:spAutoFit/>
          </a:bodyPr>
          <a:lstStyle/>
          <a:p>
            <a:pPr algn="l"/>
            <a:r>
              <a:rPr sz="1800" b="1" i="0">
                <a:solidFill>
                  <a:srgbClr val="141E46"/>
                </a:solidFill>
                <a:latin typeface="Calibri"/>
              </a:rPr>
              <a:t>The constraint</a:t>
            </a:r>
          </a:p>
        </p:txBody>
      </p:sp>
      <p:sp>
        <p:nvSpPr>
          <p:cNvPr id="9" name="TextBox 8"/>
          <p:cNvSpPr txBox="1"/>
          <p:nvPr/>
        </p:nvSpPr>
        <p:spPr>
          <a:xfrm>
            <a:off x="777240" y="2377440"/>
            <a:ext cx="10515600" cy="1554480"/>
          </a:xfrm>
          <a:prstGeom prst="rect">
            <a:avLst/>
          </a:prstGeom>
          <a:noFill/>
        </p:spPr>
        <p:txBody>
          <a:bodyPr wrap="square" lIns="0" rIns="0" tIns="0" bIns="0" anchor="t">
            <a:spAutoFit/>
          </a:bodyPr>
          <a:lstStyle/>
          <a:p>
            <a:pPr algn="l"/>
            <a:r>
              <a:rPr sz="1500" b="0" i="0">
                <a:solidFill>
                  <a:srgbClr val="1A1E2A"/>
                </a:solidFill>
                <a:latin typeface="Calibri"/>
              </a:rPr>
              <a:t>For the 1:1 cross-task comparison to work, every language we test must appear in BOTH source datasets. If a language is in one but not the other, we cannot compare Claim Matching against Evidence Retrieval on it.</a:t>
            </a:r>
          </a:p>
        </p:txBody>
      </p:sp>
      <p:sp>
        <p:nvSpPr>
          <p:cNvPr id="10" name="Rectangle 9"/>
          <p:cNvSpPr/>
          <p:nvPr/>
        </p:nvSpPr>
        <p:spPr>
          <a:xfrm>
            <a:off x="777240" y="3931920"/>
            <a:ext cx="5349240" cy="1828800"/>
          </a:xfrm>
          <a:prstGeom prst="rect">
            <a:avLst/>
          </a:prstGeom>
          <a:solidFill>
            <a:srgbClr val="FFFFFF"/>
          </a:solidFill>
          <a:ln w="1905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9728" cy="18288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069080"/>
            <a:ext cx="4937760" cy="365760"/>
          </a:xfrm>
          <a:prstGeom prst="rect">
            <a:avLst/>
          </a:prstGeom>
          <a:noFill/>
        </p:spPr>
        <p:txBody>
          <a:bodyPr wrap="square" lIns="0" rIns="0" tIns="0" bIns="0" anchor="t">
            <a:spAutoFit/>
          </a:bodyPr>
          <a:lstStyle/>
          <a:p>
            <a:pPr algn="l"/>
            <a:r>
              <a:rPr sz="1600" b="1" i="0">
                <a:solidFill>
                  <a:srgbClr val="141E46"/>
                </a:solidFill>
                <a:latin typeface="Calibri"/>
              </a:rPr>
              <a:t>MultiClaim v2</a:t>
            </a:r>
          </a:p>
        </p:txBody>
      </p:sp>
      <p:sp>
        <p:nvSpPr>
          <p:cNvPr id="13" name="TextBox 12"/>
          <p:cNvSpPr txBox="1"/>
          <p:nvPr/>
        </p:nvSpPr>
        <p:spPr>
          <a:xfrm>
            <a:off x="1051560" y="4434840"/>
            <a:ext cx="4937760" cy="365760"/>
          </a:xfrm>
          <a:prstGeom prst="rect">
            <a:avLst/>
          </a:prstGeom>
          <a:noFill/>
        </p:spPr>
        <p:txBody>
          <a:bodyPr wrap="square" lIns="0" rIns="0" tIns="0" bIns="0" anchor="t">
            <a:spAutoFit/>
          </a:bodyPr>
          <a:lstStyle/>
          <a:p>
            <a:pPr algn="l"/>
            <a:r>
              <a:rPr sz="1000" b="0" i="1">
                <a:solidFill>
                  <a:srgbClr val="606A78"/>
                </a:solidFill>
                <a:latin typeface="Calibri"/>
              </a:rPr>
              <a:t>Zenodo 15413169 · Moro et al. 2025</a:t>
            </a:r>
          </a:p>
        </p:txBody>
      </p:sp>
      <p:sp>
        <p:nvSpPr>
          <p:cNvPr id="14" name="TextBox 13"/>
          <p:cNvSpPr txBox="1"/>
          <p:nvPr/>
        </p:nvSpPr>
        <p:spPr>
          <a:xfrm>
            <a:off x="1051560" y="4800600"/>
            <a:ext cx="4937760" cy="868680"/>
          </a:xfrm>
          <a:prstGeom prst="rect">
            <a:avLst/>
          </a:prstGeom>
          <a:noFill/>
        </p:spPr>
        <p:txBody>
          <a:bodyPr wrap="square" lIns="0" rIns="0" tIns="0" bIns="0" anchor="t">
            <a:spAutoFit/>
          </a:bodyPr>
          <a:lstStyle/>
          <a:p>
            <a:pPr algn="l"/>
            <a:r>
              <a:rPr sz="1200" b="0" i="0">
                <a:solidFill>
                  <a:srgbClr val="1A1E2A"/>
                </a:solidFill>
                <a:latin typeface="Calibri"/>
              </a:rPr>
              <a:t>435k claims · 89k posts · 105k pairs · ≥ 27 languages from v1, extended in v2</a:t>
            </a:r>
          </a:p>
        </p:txBody>
      </p:sp>
      <p:sp>
        <p:nvSpPr>
          <p:cNvPr id="15" name="Rectangle 14"/>
          <p:cNvSpPr/>
          <p:nvPr/>
        </p:nvSpPr>
        <p:spPr>
          <a:xfrm>
            <a:off x="6355080" y="3931920"/>
            <a:ext cx="5349240" cy="1828800"/>
          </a:xfrm>
          <a:prstGeom prst="rect">
            <a:avLst/>
          </a:prstGeom>
          <a:solidFill>
            <a:srgbClr val="FFFFFF"/>
          </a:solidFill>
          <a:ln w="19050">
            <a:solidFill>
              <a:srgbClr val="1F7A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3931920"/>
            <a:ext cx="109728" cy="182880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069080"/>
            <a:ext cx="4937760" cy="365760"/>
          </a:xfrm>
          <a:prstGeom prst="rect">
            <a:avLst/>
          </a:prstGeom>
          <a:noFill/>
        </p:spPr>
        <p:txBody>
          <a:bodyPr wrap="square" lIns="0" rIns="0" tIns="0" bIns="0" anchor="t">
            <a:spAutoFit/>
          </a:bodyPr>
          <a:lstStyle/>
          <a:p>
            <a:pPr algn="l"/>
            <a:r>
              <a:rPr sz="1600" b="1" i="0">
                <a:solidFill>
                  <a:srgbClr val="141E46"/>
                </a:solidFill>
                <a:latin typeface="Calibri"/>
              </a:rPr>
              <a:t>MultiClaimNet</a:t>
            </a:r>
          </a:p>
        </p:txBody>
      </p:sp>
      <p:sp>
        <p:nvSpPr>
          <p:cNvPr id="18" name="TextBox 17"/>
          <p:cNvSpPr txBox="1"/>
          <p:nvPr/>
        </p:nvSpPr>
        <p:spPr>
          <a:xfrm>
            <a:off x="6629400" y="4434840"/>
            <a:ext cx="4937760" cy="365760"/>
          </a:xfrm>
          <a:prstGeom prst="rect">
            <a:avLst/>
          </a:prstGeom>
          <a:noFill/>
        </p:spPr>
        <p:txBody>
          <a:bodyPr wrap="square" lIns="0" rIns="0" tIns="0" bIns="0" anchor="t">
            <a:spAutoFit/>
          </a:bodyPr>
          <a:lstStyle/>
          <a:p>
            <a:pPr algn="l"/>
            <a:r>
              <a:rPr sz="1000" b="0" i="1">
                <a:solidFill>
                  <a:srgbClr val="606A78"/>
                </a:solidFill>
                <a:latin typeface="Calibri"/>
              </a:rPr>
              <a:t>Tran et al. · EMNLP Findings 2025</a:t>
            </a:r>
          </a:p>
        </p:txBody>
      </p:sp>
      <p:sp>
        <p:nvSpPr>
          <p:cNvPr id="19" name="TextBox 18"/>
          <p:cNvSpPr txBox="1"/>
          <p:nvPr/>
        </p:nvSpPr>
        <p:spPr>
          <a:xfrm>
            <a:off x="6629400" y="4800600"/>
            <a:ext cx="4937760" cy="868680"/>
          </a:xfrm>
          <a:prstGeom prst="rect">
            <a:avLst/>
          </a:prstGeom>
          <a:noFill/>
        </p:spPr>
        <p:txBody>
          <a:bodyPr wrap="square" lIns="0" rIns="0" tIns="0" bIns="0" anchor="t">
            <a:spAutoFit/>
          </a:bodyPr>
          <a:lstStyle/>
          <a:p>
            <a:pPr algn="l"/>
            <a:r>
              <a:rPr sz="1200" b="0" i="0">
                <a:solidFill>
                  <a:srgbClr val="1A1E2A"/>
                </a:solidFill>
                <a:latin typeface="Calibri"/>
              </a:rPr>
              <a:t>85.3k claims · 30.9k clusters · 86 languages — including Persian (fa) &amp; Polish (pl)</a:t>
            </a:r>
          </a:p>
        </p:txBody>
      </p:sp>
      <p:sp>
        <p:nvSpPr>
          <p:cNvPr id="20" name="TextBox 19"/>
          <p:cNvSpPr txBox="1"/>
          <p:nvPr/>
        </p:nvSpPr>
        <p:spPr>
          <a:xfrm>
            <a:off x="5989320" y="4251960"/>
            <a:ext cx="365760" cy="548640"/>
          </a:xfrm>
          <a:prstGeom prst="rect">
            <a:avLst/>
          </a:prstGeom>
          <a:noFill/>
        </p:spPr>
        <p:txBody>
          <a:bodyPr wrap="square" lIns="0" rIns="0" tIns="0" bIns="0" anchor="t">
            <a:spAutoFit/>
          </a:bodyPr>
          <a:lstStyle/>
          <a:p>
            <a:pPr algn="ctr"/>
            <a:r>
              <a:rPr sz="4400" b="1" i="0">
                <a:solidFill>
                  <a:srgbClr val="E09A36"/>
                </a:solidFill>
                <a:latin typeface="Calibri"/>
              </a:rPr>
              <a:t>∩</a:t>
            </a:r>
          </a:p>
        </p:txBody>
      </p:sp>
      <p:sp>
        <p:nvSpPr>
          <p:cNvPr id="21" name="TextBox 20"/>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2" name="TextBox 21"/>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DATA AVAILABILITY VERIFICATION — COUNTS</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Persian and Malayalam are too thin for monolingual evaluation</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91640"/>
            <a:ext cx="173736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46504"/>
            <a:ext cx="1554480" cy="292608"/>
          </a:xfrm>
          <a:prstGeom prst="rect">
            <a:avLst/>
          </a:prstGeom>
          <a:noFill/>
        </p:spPr>
        <p:txBody>
          <a:bodyPr wrap="square" lIns="0" rIns="0" tIns="0" bIns="0" anchor="t">
            <a:spAutoFit/>
          </a:bodyPr>
          <a:lstStyle/>
          <a:p>
            <a:pPr algn="l"/>
            <a:r>
              <a:rPr sz="1100" b="1" i="0">
                <a:solidFill>
                  <a:srgbClr val="FFFFFF"/>
                </a:solidFill>
                <a:latin typeface="Calibri"/>
              </a:rPr>
              <a:t>Language</a:t>
            </a:r>
          </a:p>
        </p:txBody>
      </p:sp>
      <p:sp>
        <p:nvSpPr>
          <p:cNvPr id="9" name="Rectangle 8"/>
          <p:cNvSpPr/>
          <p:nvPr/>
        </p:nvSpPr>
        <p:spPr>
          <a:xfrm>
            <a:off x="2240280" y="1691640"/>
            <a:ext cx="73152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746504"/>
            <a:ext cx="548640" cy="292608"/>
          </a:xfrm>
          <a:prstGeom prst="rect">
            <a:avLst/>
          </a:prstGeom>
          <a:noFill/>
        </p:spPr>
        <p:txBody>
          <a:bodyPr wrap="square" lIns="0" rIns="0" tIns="0" bIns="0" anchor="t">
            <a:spAutoFit/>
          </a:bodyPr>
          <a:lstStyle/>
          <a:p>
            <a:pPr algn="l"/>
            <a:r>
              <a:rPr sz="1100" b="1" i="0">
                <a:solidFill>
                  <a:srgbClr val="FFFFFF"/>
                </a:solidFill>
                <a:latin typeface="Calibri"/>
              </a:rPr>
              <a:t>ISO</a:t>
            </a:r>
          </a:p>
        </p:txBody>
      </p:sp>
      <p:sp>
        <p:nvSpPr>
          <p:cNvPr id="11" name="Rectangle 10"/>
          <p:cNvSpPr/>
          <p:nvPr/>
        </p:nvSpPr>
        <p:spPr>
          <a:xfrm>
            <a:off x="2971800" y="1691640"/>
            <a:ext cx="146304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1746504"/>
            <a:ext cx="1280160" cy="292608"/>
          </a:xfrm>
          <a:prstGeom prst="rect">
            <a:avLst/>
          </a:prstGeom>
          <a:noFill/>
        </p:spPr>
        <p:txBody>
          <a:bodyPr wrap="square" lIns="0" rIns="0" tIns="0" bIns="0" anchor="t">
            <a:spAutoFit/>
          </a:bodyPr>
          <a:lstStyle/>
          <a:p>
            <a:pPr algn="l"/>
            <a:r>
              <a:rPr sz="1100" b="1" i="0">
                <a:solidFill>
                  <a:srgbClr val="FFFFFF"/>
                </a:solidFill>
                <a:latin typeface="Calibri"/>
              </a:rPr>
              <a:t>Fact-checks</a:t>
            </a:r>
          </a:p>
        </p:txBody>
      </p:sp>
      <p:sp>
        <p:nvSpPr>
          <p:cNvPr id="13" name="Rectangle 12"/>
          <p:cNvSpPr/>
          <p:nvPr/>
        </p:nvSpPr>
        <p:spPr>
          <a:xfrm>
            <a:off x="4434840" y="1691640"/>
            <a:ext cx="109728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746504"/>
            <a:ext cx="914400" cy="292608"/>
          </a:xfrm>
          <a:prstGeom prst="rect">
            <a:avLst/>
          </a:prstGeom>
          <a:noFill/>
        </p:spPr>
        <p:txBody>
          <a:bodyPr wrap="square" lIns="0" rIns="0" tIns="0" bIns="0" anchor="t">
            <a:spAutoFit/>
          </a:bodyPr>
          <a:lstStyle/>
          <a:p>
            <a:pPr algn="l"/>
            <a:r>
              <a:rPr sz="1100" b="1" i="0">
                <a:solidFill>
                  <a:srgbClr val="FFFFFF"/>
                </a:solidFill>
                <a:latin typeface="Calibri"/>
              </a:rPr>
              <a:t>Posts</a:t>
            </a:r>
          </a:p>
        </p:txBody>
      </p:sp>
      <p:sp>
        <p:nvSpPr>
          <p:cNvPr id="15" name="Rectangle 14"/>
          <p:cNvSpPr/>
          <p:nvPr/>
        </p:nvSpPr>
        <p:spPr>
          <a:xfrm>
            <a:off x="5532120" y="1691640"/>
            <a:ext cx="219456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60" y="1746504"/>
            <a:ext cx="2011680" cy="292608"/>
          </a:xfrm>
          <a:prstGeom prst="rect">
            <a:avLst/>
          </a:prstGeom>
          <a:noFill/>
        </p:spPr>
        <p:txBody>
          <a:bodyPr wrap="square" lIns="0" rIns="0" tIns="0" bIns="0" anchor="t">
            <a:spAutoFit/>
          </a:bodyPr>
          <a:lstStyle/>
          <a:p>
            <a:pPr algn="l"/>
            <a:r>
              <a:rPr sz="1100" b="1" i="0">
                <a:solidFill>
                  <a:srgbClr val="FFFFFF"/>
                </a:solidFill>
                <a:latin typeface="Calibri"/>
              </a:rPr>
              <a:t>Cluster</a:t>
            </a:r>
          </a:p>
        </p:txBody>
      </p:sp>
      <p:sp>
        <p:nvSpPr>
          <p:cNvPr id="17" name="Rectangle 16"/>
          <p:cNvSpPr/>
          <p:nvPr/>
        </p:nvSpPr>
        <p:spPr>
          <a:xfrm>
            <a:off x="7726680" y="1691640"/>
            <a:ext cx="1828800" cy="38404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1746504"/>
            <a:ext cx="1645920" cy="292608"/>
          </a:xfrm>
          <a:prstGeom prst="rect">
            <a:avLst/>
          </a:prstGeom>
          <a:noFill/>
        </p:spPr>
        <p:txBody>
          <a:bodyPr wrap="square" lIns="0" rIns="0" tIns="0" bIns="0" anchor="t">
            <a:spAutoFit/>
          </a:bodyPr>
          <a:lstStyle/>
          <a:p>
            <a:pPr algn="l"/>
            <a:r>
              <a:rPr sz="1100" b="1" i="0">
                <a:solidFill>
                  <a:srgbClr val="FFFFFF"/>
                </a:solidFill>
                <a:latin typeface="Calibri"/>
              </a:rPr>
              <a:t>Verdict</a:t>
            </a:r>
          </a:p>
        </p:txBody>
      </p:sp>
      <p:sp>
        <p:nvSpPr>
          <p:cNvPr id="19" name="Rectangle 18"/>
          <p:cNvSpPr/>
          <p:nvPr/>
        </p:nvSpPr>
        <p:spPr>
          <a:xfrm>
            <a:off x="502920" y="2075688"/>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148840"/>
            <a:ext cx="1554480" cy="292608"/>
          </a:xfrm>
          <a:prstGeom prst="rect">
            <a:avLst/>
          </a:prstGeom>
          <a:noFill/>
        </p:spPr>
        <p:txBody>
          <a:bodyPr wrap="square" lIns="0" rIns="0" tIns="0" bIns="0" anchor="t">
            <a:spAutoFit/>
          </a:bodyPr>
          <a:lstStyle/>
          <a:p>
            <a:pPr algn="l"/>
            <a:r>
              <a:rPr sz="1050" b="0" i="0">
                <a:solidFill>
                  <a:srgbClr val="1A1E2A"/>
                </a:solidFill>
                <a:latin typeface="Calibri"/>
              </a:rPr>
              <a:t>English</a:t>
            </a:r>
          </a:p>
        </p:txBody>
      </p:sp>
      <p:sp>
        <p:nvSpPr>
          <p:cNvPr id="21" name="Rectangle 20"/>
          <p:cNvSpPr/>
          <p:nvPr/>
        </p:nvSpPr>
        <p:spPr>
          <a:xfrm>
            <a:off x="2240280" y="2075688"/>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31720" y="2148840"/>
            <a:ext cx="548640" cy="292608"/>
          </a:xfrm>
          <a:prstGeom prst="rect">
            <a:avLst/>
          </a:prstGeom>
          <a:noFill/>
        </p:spPr>
        <p:txBody>
          <a:bodyPr wrap="square" lIns="0" rIns="0" tIns="0" bIns="0" anchor="t">
            <a:spAutoFit/>
          </a:bodyPr>
          <a:lstStyle/>
          <a:p>
            <a:pPr algn="l"/>
            <a:r>
              <a:rPr sz="1050" b="0" i="0">
                <a:solidFill>
                  <a:srgbClr val="1A1E2A"/>
                </a:solidFill>
                <a:latin typeface="Calibri"/>
              </a:rPr>
              <a:t>eng</a:t>
            </a:r>
          </a:p>
        </p:txBody>
      </p:sp>
      <p:sp>
        <p:nvSpPr>
          <p:cNvPr id="23" name="Rectangle 22"/>
          <p:cNvSpPr/>
          <p:nvPr/>
        </p:nvSpPr>
        <p:spPr>
          <a:xfrm>
            <a:off x="2971800" y="2075688"/>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63240" y="2148840"/>
            <a:ext cx="1280160" cy="292608"/>
          </a:xfrm>
          <a:prstGeom prst="rect">
            <a:avLst/>
          </a:prstGeom>
          <a:noFill/>
        </p:spPr>
        <p:txBody>
          <a:bodyPr wrap="square" lIns="0" rIns="0" tIns="0" bIns="0" anchor="t">
            <a:spAutoFit/>
          </a:bodyPr>
          <a:lstStyle/>
          <a:p>
            <a:pPr algn="l"/>
            <a:r>
              <a:rPr sz="1050" b="0" i="0">
                <a:solidFill>
                  <a:srgbClr val="1A1E2A"/>
                </a:solidFill>
                <a:latin typeface="Calibri"/>
              </a:rPr>
              <a:t>85,814</a:t>
            </a:r>
          </a:p>
        </p:txBody>
      </p:sp>
      <p:sp>
        <p:nvSpPr>
          <p:cNvPr id="25" name="Rectangle 24"/>
          <p:cNvSpPr/>
          <p:nvPr/>
        </p:nvSpPr>
        <p:spPr>
          <a:xfrm>
            <a:off x="4434840" y="2075688"/>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2148840"/>
            <a:ext cx="914400" cy="292608"/>
          </a:xfrm>
          <a:prstGeom prst="rect">
            <a:avLst/>
          </a:prstGeom>
          <a:noFill/>
        </p:spPr>
        <p:txBody>
          <a:bodyPr wrap="square" lIns="0" rIns="0" tIns="0" bIns="0" anchor="t">
            <a:spAutoFit/>
          </a:bodyPr>
          <a:lstStyle/>
          <a:p>
            <a:pPr algn="l"/>
            <a:r>
              <a:rPr sz="1050" b="0" i="0">
                <a:solidFill>
                  <a:srgbClr val="1A1E2A"/>
                </a:solidFill>
                <a:latin typeface="Calibri"/>
              </a:rPr>
              <a:t>7,307</a:t>
            </a:r>
          </a:p>
        </p:txBody>
      </p:sp>
      <p:sp>
        <p:nvSpPr>
          <p:cNvPr id="27" name="Rectangle 26"/>
          <p:cNvSpPr/>
          <p:nvPr/>
        </p:nvSpPr>
        <p:spPr>
          <a:xfrm>
            <a:off x="5532120" y="2075688"/>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23560" y="2148840"/>
            <a:ext cx="2011680" cy="292608"/>
          </a:xfrm>
          <a:prstGeom prst="rect">
            <a:avLst/>
          </a:prstGeom>
          <a:noFill/>
        </p:spPr>
        <p:txBody>
          <a:bodyPr wrap="square" lIns="0" rIns="0" tIns="0" bIns="0" anchor="t">
            <a:spAutoFit/>
          </a:bodyPr>
          <a:lstStyle/>
          <a:p>
            <a:pPr algn="l"/>
            <a:r>
              <a:rPr sz="1050" b="0" i="0">
                <a:solidFill>
                  <a:srgbClr val="1A1E2A"/>
                </a:solidFill>
                <a:latin typeface="Calibri"/>
              </a:rPr>
              <a:t>C1 Germanic</a:t>
            </a:r>
          </a:p>
        </p:txBody>
      </p:sp>
      <p:sp>
        <p:nvSpPr>
          <p:cNvPr id="29" name="Rectangle 28"/>
          <p:cNvSpPr/>
          <p:nvPr/>
        </p:nvSpPr>
        <p:spPr>
          <a:xfrm>
            <a:off x="7726680" y="2075688"/>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2148840"/>
            <a:ext cx="1645920" cy="292608"/>
          </a:xfrm>
          <a:prstGeom prst="rect">
            <a:avLst/>
          </a:prstGeom>
          <a:noFill/>
        </p:spPr>
        <p:txBody>
          <a:bodyPr wrap="square" lIns="0" rIns="0" tIns="0" bIns="0" anchor="t">
            <a:spAutoFit/>
          </a:bodyPr>
          <a:lstStyle/>
          <a:p>
            <a:pPr algn="l"/>
            <a:r>
              <a:rPr sz="1050" b="1" i="0">
                <a:solidFill>
                  <a:srgbClr val="2C6E49"/>
                </a:solidFill>
                <a:latin typeface="Calibri"/>
              </a:rPr>
              <a:t>Core baseline</a:t>
            </a:r>
          </a:p>
        </p:txBody>
      </p:sp>
      <p:sp>
        <p:nvSpPr>
          <p:cNvPr id="31" name="Rectangle 30"/>
          <p:cNvSpPr/>
          <p:nvPr/>
        </p:nvSpPr>
        <p:spPr>
          <a:xfrm>
            <a:off x="502920" y="2459736"/>
            <a:ext cx="17373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532888"/>
            <a:ext cx="1554480" cy="292608"/>
          </a:xfrm>
          <a:prstGeom prst="rect">
            <a:avLst/>
          </a:prstGeom>
          <a:noFill/>
        </p:spPr>
        <p:txBody>
          <a:bodyPr wrap="square" lIns="0" rIns="0" tIns="0" bIns="0" anchor="t">
            <a:spAutoFit/>
          </a:bodyPr>
          <a:lstStyle/>
          <a:p>
            <a:pPr algn="l"/>
            <a:r>
              <a:rPr sz="1050" b="0" i="0">
                <a:solidFill>
                  <a:srgbClr val="1A1E2A"/>
                </a:solidFill>
                <a:latin typeface="Calibri"/>
              </a:rPr>
              <a:t>German</a:t>
            </a:r>
          </a:p>
        </p:txBody>
      </p:sp>
      <p:sp>
        <p:nvSpPr>
          <p:cNvPr id="33" name="Rectangle 32"/>
          <p:cNvSpPr/>
          <p:nvPr/>
        </p:nvSpPr>
        <p:spPr>
          <a:xfrm>
            <a:off x="2240280" y="2459736"/>
            <a:ext cx="73152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31720" y="2532888"/>
            <a:ext cx="548640" cy="292608"/>
          </a:xfrm>
          <a:prstGeom prst="rect">
            <a:avLst/>
          </a:prstGeom>
          <a:noFill/>
        </p:spPr>
        <p:txBody>
          <a:bodyPr wrap="square" lIns="0" rIns="0" tIns="0" bIns="0" anchor="t">
            <a:spAutoFit/>
          </a:bodyPr>
          <a:lstStyle/>
          <a:p>
            <a:pPr algn="l"/>
            <a:r>
              <a:rPr sz="1050" b="0" i="0">
                <a:solidFill>
                  <a:srgbClr val="1A1E2A"/>
                </a:solidFill>
                <a:latin typeface="Calibri"/>
              </a:rPr>
              <a:t>deu</a:t>
            </a:r>
          </a:p>
        </p:txBody>
      </p:sp>
      <p:sp>
        <p:nvSpPr>
          <p:cNvPr id="35" name="Rectangle 34"/>
          <p:cNvSpPr/>
          <p:nvPr/>
        </p:nvSpPr>
        <p:spPr>
          <a:xfrm>
            <a:off x="2971800" y="2459736"/>
            <a:ext cx="146304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63240" y="2532888"/>
            <a:ext cx="1280160" cy="292608"/>
          </a:xfrm>
          <a:prstGeom prst="rect">
            <a:avLst/>
          </a:prstGeom>
          <a:noFill/>
        </p:spPr>
        <p:txBody>
          <a:bodyPr wrap="square" lIns="0" rIns="0" tIns="0" bIns="0" anchor="t">
            <a:spAutoFit/>
          </a:bodyPr>
          <a:lstStyle/>
          <a:p>
            <a:pPr algn="l"/>
            <a:r>
              <a:rPr sz="1050" b="0" i="0">
                <a:solidFill>
                  <a:srgbClr val="1A1E2A"/>
                </a:solidFill>
                <a:latin typeface="Calibri"/>
              </a:rPr>
              <a:t>4,996</a:t>
            </a:r>
          </a:p>
        </p:txBody>
      </p:sp>
      <p:sp>
        <p:nvSpPr>
          <p:cNvPr id="37" name="Rectangle 36"/>
          <p:cNvSpPr/>
          <p:nvPr/>
        </p:nvSpPr>
        <p:spPr>
          <a:xfrm>
            <a:off x="4434840" y="2459736"/>
            <a:ext cx="109728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26280" y="2532888"/>
            <a:ext cx="914400" cy="292608"/>
          </a:xfrm>
          <a:prstGeom prst="rect">
            <a:avLst/>
          </a:prstGeom>
          <a:noFill/>
        </p:spPr>
        <p:txBody>
          <a:bodyPr wrap="square" lIns="0" rIns="0" tIns="0" bIns="0" anchor="t">
            <a:spAutoFit/>
          </a:bodyPr>
          <a:lstStyle/>
          <a:p>
            <a:pPr algn="l"/>
            <a:r>
              <a:rPr sz="1050" b="0" i="0">
                <a:solidFill>
                  <a:srgbClr val="1A1E2A"/>
                </a:solidFill>
                <a:latin typeface="Calibri"/>
              </a:rPr>
              <a:t>932</a:t>
            </a:r>
          </a:p>
        </p:txBody>
      </p:sp>
      <p:sp>
        <p:nvSpPr>
          <p:cNvPr id="39" name="Rectangle 38"/>
          <p:cNvSpPr/>
          <p:nvPr/>
        </p:nvSpPr>
        <p:spPr>
          <a:xfrm>
            <a:off x="5532120" y="2459736"/>
            <a:ext cx="21945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23560" y="2532888"/>
            <a:ext cx="2011680" cy="292608"/>
          </a:xfrm>
          <a:prstGeom prst="rect">
            <a:avLst/>
          </a:prstGeom>
          <a:noFill/>
        </p:spPr>
        <p:txBody>
          <a:bodyPr wrap="square" lIns="0" rIns="0" tIns="0" bIns="0" anchor="t">
            <a:spAutoFit/>
          </a:bodyPr>
          <a:lstStyle/>
          <a:p>
            <a:pPr algn="l"/>
            <a:r>
              <a:rPr sz="1050" b="0" i="0">
                <a:solidFill>
                  <a:srgbClr val="1A1E2A"/>
                </a:solidFill>
                <a:latin typeface="Calibri"/>
              </a:rPr>
              <a:t>C1 Germanic</a:t>
            </a:r>
          </a:p>
        </p:txBody>
      </p:sp>
      <p:sp>
        <p:nvSpPr>
          <p:cNvPr id="41" name="Rectangle 40"/>
          <p:cNvSpPr/>
          <p:nvPr/>
        </p:nvSpPr>
        <p:spPr>
          <a:xfrm>
            <a:off x="7726680" y="2459736"/>
            <a:ext cx="182880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18120" y="2532888"/>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43" name="Rectangle 42"/>
          <p:cNvSpPr/>
          <p:nvPr/>
        </p:nvSpPr>
        <p:spPr>
          <a:xfrm>
            <a:off x="502920" y="2843784"/>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2916936"/>
            <a:ext cx="1554480" cy="292608"/>
          </a:xfrm>
          <a:prstGeom prst="rect">
            <a:avLst/>
          </a:prstGeom>
          <a:noFill/>
        </p:spPr>
        <p:txBody>
          <a:bodyPr wrap="square" lIns="0" rIns="0" tIns="0" bIns="0" anchor="t">
            <a:spAutoFit/>
          </a:bodyPr>
          <a:lstStyle/>
          <a:p>
            <a:pPr algn="l"/>
            <a:r>
              <a:rPr sz="1050" b="0" i="0">
                <a:solidFill>
                  <a:srgbClr val="1A1E2A"/>
                </a:solidFill>
                <a:latin typeface="Calibri"/>
              </a:rPr>
              <a:t>Spanish</a:t>
            </a:r>
          </a:p>
        </p:txBody>
      </p:sp>
      <p:sp>
        <p:nvSpPr>
          <p:cNvPr id="45" name="Rectangle 44"/>
          <p:cNvSpPr/>
          <p:nvPr/>
        </p:nvSpPr>
        <p:spPr>
          <a:xfrm>
            <a:off x="2240280" y="2843784"/>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31720" y="2916936"/>
            <a:ext cx="548640" cy="292608"/>
          </a:xfrm>
          <a:prstGeom prst="rect">
            <a:avLst/>
          </a:prstGeom>
          <a:noFill/>
        </p:spPr>
        <p:txBody>
          <a:bodyPr wrap="square" lIns="0" rIns="0" tIns="0" bIns="0" anchor="t">
            <a:spAutoFit/>
          </a:bodyPr>
          <a:lstStyle/>
          <a:p>
            <a:pPr algn="l"/>
            <a:r>
              <a:rPr sz="1050" b="0" i="0">
                <a:solidFill>
                  <a:srgbClr val="1A1E2A"/>
                </a:solidFill>
                <a:latin typeface="Calibri"/>
              </a:rPr>
              <a:t>spa</a:t>
            </a:r>
          </a:p>
        </p:txBody>
      </p:sp>
      <p:sp>
        <p:nvSpPr>
          <p:cNvPr id="47" name="Rectangle 46"/>
          <p:cNvSpPr/>
          <p:nvPr/>
        </p:nvSpPr>
        <p:spPr>
          <a:xfrm>
            <a:off x="2971800" y="2843784"/>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2916936"/>
            <a:ext cx="1280160" cy="292608"/>
          </a:xfrm>
          <a:prstGeom prst="rect">
            <a:avLst/>
          </a:prstGeom>
          <a:noFill/>
        </p:spPr>
        <p:txBody>
          <a:bodyPr wrap="square" lIns="0" rIns="0" tIns="0" bIns="0" anchor="t">
            <a:spAutoFit/>
          </a:bodyPr>
          <a:lstStyle/>
          <a:p>
            <a:pPr algn="l"/>
            <a:r>
              <a:rPr sz="1050" b="0" i="0">
                <a:solidFill>
                  <a:srgbClr val="1A1E2A"/>
                </a:solidFill>
                <a:latin typeface="Calibri"/>
              </a:rPr>
              <a:t>14,082</a:t>
            </a:r>
          </a:p>
        </p:txBody>
      </p:sp>
      <p:sp>
        <p:nvSpPr>
          <p:cNvPr id="49" name="Rectangle 48"/>
          <p:cNvSpPr/>
          <p:nvPr/>
        </p:nvSpPr>
        <p:spPr>
          <a:xfrm>
            <a:off x="4434840" y="2843784"/>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6280" y="2916936"/>
            <a:ext cx="914400" cy="292608"/>
          </a:xfrm>
          <a:prstGeom prst="rect">
            <a:avLst/>
          </a:prstGeom>
          <a:noFill/>
        </p:spPr>
        <p:txBody>
          <a:bodyPr wrap="square" lIns="0" rIns="0" tIns="0" bIns="0" anchor="t">
            <a:spAutoFit/>
          </a:bodyPr>
          <a:lstStyle/>
          <a:p>
            <a:pPr algn="l"/>
            <a:r>
              <a:rPr sz="1050" b="0" i="0">
                <a:solidFill>
                  <a:srgbClr val="1A1E2A"/>
                </a:solidFill>
                <a:latin typeface="Calibri"/>
              </a:rPr>
              <a:t>7,319</a:t>
            </a:r>
          </a:p>
        </p:txBody>
      </p:sp>
      <p:sp>
        <p:nvSpPr>
          <p:cNvPr id="51" name="Rectangle 50"/>
          <p:cNvSpPr/>
          <p:nvPr/>
        </p:nvSpPr>
        <p:spPr>
          <a:xfrm>
            <a:off x="5532120" y="2843784"/>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23560" y="2916936"/>
            <a:ext cx="2011680" cy="292608"/>
          </a:xfrm>
          <a:prstGeom prst="rect">
            <a:avLst/>
          </a:prstGeom>
          <a:noFill/>
        </p:spPr>
        <p:txBody>
          <a:bodyPr wrap="square" lIns="0" rIns="0" tIns="0" bIns="0" anchor="t">
            <a:spAutoFit/>
          </a:bodyPr>
          <a:lstStyle/>
          <a:p>
            <a:pPr algn="l"/>
            <a:r>
              <a:rPr sz="1050" b="0" i="0">
                <a:solidFill>
                  <a:srgbClr val="1A1E2A"/>
                </a:solidFill>
                <a:latin typeface="Calibri"/>
              </a:rPr>
              <a:t>C2 Romance</a:t>
            </a:r>
          </a:p>
        </p:txBody>
      </p:sp>
      <p:sp>
        <p:nvSpPr>
          <p:cNvPr id="53" name="Rectangle 52"/>
          <p:cNvSpPr/>
          <p:nvPr/>
        </p:nvSpPr>
        <p:spPr>
          <a:xfrm>
            <a:off x="7726680" y="2843784"/>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18120" y="2916936"/>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55" name="Rectangle 54"/>
          <p:cNvSpPr/>
          <p:nvPr/>
        </p:nvSpPr>
        <p:spPr>
          <a:xfrm>
            <a:off x="502920" y="3227832"/>
            <a:ext cx="17373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3300984"/>
            <a:ext cx="1554480" cy="292608"/>
          </a:xfrm>
          <a:prstGeom prst="rect">
            <a:avLst/>
          </a:prstGeom>
          <a:noFill/>
        </p:spPr>
        <p:txBody>
          <a:bodyPr wrap="square" lIns="0" rIns="0" tIns="0" bIns="0" anchor="t">
            <a:spAutoFit/>
          </a:bodyPr>
          <a:lstStyle/>
          <a:p>
            <a:pPr algn="l"/>
            <a:r>
              <a:rPr sz="1050" b="0" i="0">
                <a:solidFill>
                  <a:srgbClr val="1A1E2A"/>
                </a:solidFill>
                <a:latin typeface="Calibri"/>
              </a:rPr>
              <a:t>French</a:t>
            </a:r>
          </a:p>
        </p:txBody>
      </p:sp>
      <p:sp>
        <p:nvSpPr>
          <p:cNvPr id="57" name="Rectangle 56"/>
          <p:cNvSpPr/>
          <p:nvPr/>
        </p:nvSpPr>
        <p:spPr>
          <a:xfrm>
            <a:off x="2240280" y="3227832"/>
            <a:ext cx="73152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331720" y="3300984"/>
            <a:ext cx="548640" cy="292608"/>
          </a:xfrm>
          <a:prstGeom prst="rect">
            <a:avLst/>
          </a:prstGeom>
          <a:noFill/>
        </p:spPr>
        <p:txBody>
          <a:bodyPr wrap="square" lIns="0" rIns="0" tIns="0" bIns="0" anchor="t">
            <a:spAutoFit/>
          </a:bodyPr>
          <a:lstStyle/>
          <a:p>
            <a:pPr algn="l"/>
            <a:r>
              <a:rPr sz="1050" b="0" i="0">
                <a:solidFill>
                  <a:srgbClr val="1A1E2A"/>
                </a:solidFill>
                <a:latin typeface="Calibri"/>
              </a:rPr>
              <a:t>fra</a:t>
            </a:r>
          </a:p>
        </p:txBody>
      </p:sp>
      <p:sp>
        <p:nvSpPr>
          <p:cNvPr id="59" name="Rectangle 58"/>
          <p:cNvSpPr/>
          <p:nvPr/>
        </p:nvSpPr>
        <p:spPr>
          <a:xfrm>
            <a:off x="2971800" y="3227832"/>
            <a:ext cx="146304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063240" y="3300984"/>
            <a:ext cx="1280160" cy="292608"/>
          </a:xfrm>
          <a:prstGeom prst="rect">
            <a:avLst/>
          </a:prstGeom>
          <a:noFill/>
        </p:spPr>
        <p:txBody>
          <a:bodyPr wrap="square" lIns="0" rIns="0" tIns="0" bIns="0" anchor="t">
            <a:spAutoFit/>
          </a:bodyPr>
          <a:lstStyle/>
          <a:p>
            <a:pPr algn="l"/>
            <a:r>
              <a:rPr sz="1050" b="0" i="0">
                <a:solidFill>
                  <a:srgbClr val="1A1E2A"/>
                </a:solidFill>
                <a:latin typeface="Calibri"/>
              </a:rPr>
              <a:t>4,355</a:t>
            </a:r>
          </a:p>
        </p:txBody>
      </p:sp>
      <p:sp>
        <p:nvSpPr>
          <p:cNvPr id="61" name="Rectangle 60"/>
          <p:cNvSpPr/>
          <p:nvPr/>
        </p:nvSpPr>
        <p:spPr>
          <a:xfrm>
            <a:off x="4434840" y="3227832"/>
            <a:ext cx="109728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26280" y="3300984"/>
            <a:ext cx="914400" cy="292608"/>
          </a:xfrm>
          <a:prstGeom prst="rect">
            <a:avLst/>
          </a:prstGeom>
          <a:noFill/>
        </p:spPr>
        <p:txBody>
          <a:bodyPr wrap="square" lIns="0" rIns="0" tIns="0" bIns="0" anchor="t">
            <a:spAutoFit/>
          </a:bodyPr>
          <a:lstStyle/>
          <a:p>
            <a:pPr algn="l"/>
            <a:r>
              <a:rPr sz="1050" b="0" i="0">
                <a:solidFill>
                  <a:srgbClr val="1A1E2A"/>
                </a:solidFill>
                <a:latin typeface="Calibri"/>
              </a:rPr>
              <a:t>2,146</a:t>
            </a:r>
          </a:p>
        </p:txBody>
      </p:sp>
      <p:sp>
        <p:nvSpPr>
          <p:cNvPr id="63" name="Rectangle 62"/>
          <p:cNvSpPr/>
          <p:nvPr/>
        </p:nvSpPr>
        <p:spPr>
          <a:xfrm>
            <a:off x="5532120" y="3227832"/>
            <a:ext cx="21945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23560" y="3300984"/>
            <a:ext cx="2011680" cy="292608"/>
          </a:xfrm>
          <a:prstGeom prst="rect">
            <a:avLst/>
          </a:prstGeom>
          <a:noFill/>
        </p:spPr>
        <p:txBody>
          <a:bodyPr wrap="square" lIns="0" rIns="0" tIns="0" bIns="0" anchor="t">
            <a:spAutoFit/>
          </a:bodyPr>
          <a:lstStyle/>
          <a:p>
            <a:pPr algn="l"/>
            <a:r>
              <a:rPr sz="1050" b="0" i="0">
                <a:solidFill>
                  <a:srgbClr val="1A1E2A"/>
                </a:solidFill>
                <a:latin typeface="Calibri"/>
              </a:rPr>
              <a:t>C2 Romance</a:t>
            </a:r>
          </a:p>
        </p:txBody>
      </p:sp>
      <p:sp>
        <p:nvSpPr>
          <p:cNvPr id="65" name="Rectangle 64"/>
          <p:cNvSpPr/>
          <p:nvPr/>
        </p:nvSpPr>
        <p:spPr>
          <a:xfrm>
            <a:off x="7726680" y="3227832"/>
            <a:ext cx="182880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18120" y="3300984"/>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67" name="Rectangle 66"/>
          <p:cNvSpPr/>
          <p:nvPr/>
        </p:nvSpPr>
        <p:spPr>
          <a:xfrm>
            <a:off x="502920" y="3611880"/>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94360" y="3685032"/>
            <a:ext cx="1554480" cy="292608"/>
          </a:xfrm>
          <a:prstGeom prst="rect">
            <a:avLst/>
          </a:prstGeom>
          <a:noFill/>
        </p:spPr>
        <p:txBody>
          <a:bodyPr wrap="square" lIns="0" rIns="0" tIns="0" bIns="0" anchor="t">
            <a:spAutoFit/>
          </a:bodyPr>
          <a:lstStyle/>
          <a:p>
            <a:pPr algn="l"/>
            <a:r>
              <a:rPr sz="1050" b="0" i="0">
                <a:solidFill>
                  <a:srgbClr val="1A1E2A"/>
                </a:solidFill>
                <a:latin typeface="Calibri"/>
              </a:rPr>
              <a:t>Italian</a:t>
            </a:r>
          </a:p>
        </p:txBody>
      </p:sp>
      <p:sp>
        <p:nvSpPr>
          <p:cNvPr id="69" name="Rectangle 68"/>
          <p:cNvSpPr/>
          <p:nvPr/>
        </p:nvSpPr>
        <p:spPr>
          <a:xfrm>
            <a:off x="2240280" y="3611880"/>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31720" y="3685032"/>
            <a:ext cx="548640" cy="292608"/>
          </a:xfrm>
          <a:prstGeom prst="rect">
            <a:avLst/>
          </a:prstGeom>
          <a:noFill/>
        </p:spPr>
        <p:txBody>
          <a:bodyPr wrap="square" lIns="0" rIns="0" tIns="0" bIns="0" anchor="t">
            <a:spAutoFit/>
          </a:bodyPr>
          <a:lstStyle/>
          <a:p>
            <a:pPr algn="l"/>
            <a:r>
              <a:rPr sz="1050" b="0" i="0">
                <a:solidFill>
                  <a:srgbClr val="1A1E2A"/>
                </a:solidFill>
                <a:latin typeface="Calibri"/>
              </a:rPr>
              <a:t>ita</a:t>
            </a:r>
          </a:p>
        </p:txBody>
      </p:sp>
      <p:sp>
        <p:nvSpPr>
          <p:cNvPr id="71" name="Rectangle 70"/>
          <p:cNvSpPr/>
          <p:nvPr/>
        </p:nvSpPr>
        <p:spPr>
          <a:xfrm>
            <a:off x="2971800" y="3611880"/>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063240" y="3685032"/>
            <a:ext cx="1280160" cy="292608"/>
          </a:xfrm>
          <a:prstGeom prst="rect">
            <a:avLst/>
          </a:prstGeom>
          <a:noFill/>
        </p:spPr>
        <p:txBody>
          <a:bodyPr wrap="square" lIns="0" rIns="0" tIns="0" bIns="0" anchor="t">
            <a:spAutoFit/>
          </a:bodyPr>
          <a:lstStyle/>
          <a:p>
            <a:pPr algn="l"/>
            <a:r>
              <a:rPr sz="1050" b="0" i="0">
                <a:solidFill>
                  <a:srgbClr val="1A1E2A"/>
                </a:solidFill>
                <a:latin typeface="Calibri"/>
              </a:rPr>
              <a:t>3,047</a:t>
            </a:r>
          </a:p>
        </p:txBody>
      </p:sp>
      <p:sp>
        <p:nvSpPr>
          <p:cNvPr id="73" name="Rectangle 72"/>
          <p:cNvSpPr/>
          <p:nvPr/>
        </p:nvSpPr>
        <p:spPr>
          <a:xfrm>
            <a:off x="4434840" y="3611880"/>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26280" y="3685032"/>
            <a:ext cx="914400" cy="292608"/>
          </a:xfrm>
          <a:prstGeom prst="rect">
            <a:avLst/>
          </a:prstGeom>
          <a:noFill/>
        </p:spPr>
        <p:txBody>
          <a:bodyPr wrap="square" lIns="0" rIns="0" tIns="0" bIns="0" anchor="t">
            <a:spAutoFit/>
          </a:bodyPr>
          <a:lstStyle/>
          <a:p>
            <a:pPr algn="l"/>
            <a:r>
              <a:rPr sz="1050" b="0" i="0">
                <a:solidFill>
                  <a:srgbClr val="1A1E2A"/>
                </a:solidFill>
                <a:latin typeface="Calibri"/>
              </a:rPr>
              <a:t>65</a:t>
            </a:r>
          </a:p>
        </p:txBody>
      </p:sp>
      <p:sp>
        <p:nvSpPr>
          <p:cNvPr id="75" name="Rectangle 74"/>
          <p:cNvSpPr/>
          <p:nvPr/>
        </p:nvSpPr>
        <p:spPr>
          <a:xfrm>
            <a:off x="5532120" y="3611880"/>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23560" y="3685032"/>
            <a:ext cx="2011680" cy="292608"/>
          </a:xfrm>
          <a:prstGeom prst="rect">
            <a:avLst/>
          </a:prstGeom>
          <a:noFill/>
        </p:spPr>
        <p:txBody>
          <a:bodyPr wrap="square" lIns="0" rIns="0" tIns="0" bIns="0" anchor="t">
            <a:spAutoFit/>
          </a:bodyPr>
          <a:lstStyle/>
          <a:p>
            <a:pPr algn="l"/>
            <a:r>
              <a:rPr sz="1050" b="0" i="0">
                <a:solidFill>
                  <a:srgbClr val="1A1E2A"/>
                </a:solidFill>
                <a:latin typeface="Calibri"/>
              </a:rPr>
              <a:t>C2 Romance</a:t>
            </a:r>
          </a:p>
        </p:txBody>
      </p:sp>
      <p:sp>
        <p:nvSpPr>
          <p:cNvPr id="77" name="Rectangle 76"/>
          <p:cNvSpPr/>
          <p:nvPr/>
        </p:nvSpPr>
        <p:spPr>
          <a:xfrm>
            <a:off x="7726680" y="3611880"/>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18120" y="3685032"/>
            <a:ext cx="1645920" cy="292608"/>
          </a:xfrm>
          <a:prstGeom prst="rect">
            <a:avLst/>
          </a:prstGeom>
          <a:noFill/>
        </p:spPr>
        <p:txBody>
          <a:bodyPr wrap="square" lIns="0" rIns="0" tIns="0" bIns="0" anchor="t">
            <a:spAutoFit/>
          </a:bodyPr>
          <a:lstStyle/>
          <a:p>
            <a:pPr algn="l"/>
            <a:r>
              <a:rPr sz="1050" b="1" i="0">
                <a:solidFill>
                  <a:srgbClr val="E09A36"/>
                </a:solidFill>
                <a:latin typeface="Calibri"/>
              </a:rPr>
              <a:t>Optional</a:t>
            </a:r>
          </a:p>
        </p:txBody>
      </p:sp>
      <p:sp>
        <p:nvSpPr>
          <p:cNvPr id="79" name="Rectangle 78"/>
          <p:cNvSpPr/>
          <p:nvPr/>
        </p:nvSpPr>
        <p:spPr>
          <a:xfrm>
            <a:off x="502920" y="3995928"/>
            <a:ext cx="17373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4360" y="4069080"/>
            <a:ext cx="1554480" cy="292608"/>
          </a:xfrm>
          <a:prstGeom prst="rect">
            <a:avLst/>
          </a:prstGeom>
          <a:noFill/>
        </p:spPr>
        <p:txBody>
          <a:bodyPr wrap="square" lIns="0" rIns="0" tIns="0" bIns="0" anchor="t">
            <a:spAutoFit/>
          </a:bodyPr>
          <a:lstStyle/>
          <a:p>
            <a:pPr algn="l"/>
            <a:r>
              <a:rPr sz="1050" b="0" i="0">
                <a:solidFill>
                  <a:srgbClr val="1A1E2A"/>
                </a:solidFill>
                <a:latin typeface="Calibri"/>
              </a:rPr>
              <a:t>Polish</a:t>
            </a:r>
          </a:p>
        </p:txBody>
      </p:sp>
      <p:sp>
        <p:nvSpPr>
          <p:cNvPr id="81" name="Rectangle 80"/>
          <p:cNvSpPr/>
          <p:nvPr/>
        </p:nvSpPr>
        <p:spPr>
          <a:xfrm>
            <a:off x="2240280" y="3995928"/>
            <a:ext cx="73152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331720" y="4069080"/>
            <a:ext cx="548640" cy="292608"/>
          </a:xfrm>
          <a:prstGeom prst="rect">
            <a:avLst/>
          </a:prstGeom>
          <a:noFill/>
        </p:spPr>
        <p:txBody>
          <a:bodyPr wrap="square" lIns="0" rIns="0" tIns="0" bIns="0" anchor="t">
            <a:spAutoFit/>
          </a:bodyPr>
          <a:lstStyle/>
          <a:p>
            <a:pPr algn="l"/>
            <a:r>
              <a:rPr sz="1050" b="0" i="0">
                <a:solidFill>
                  <a:srgbClr val="1A1E2A"/>
                </a:solidFill>
                <a:latin typeface="Calibri"/>
              </a:rPr>
              <a:t>pol</a:t>
            </a:r>
          </a:p>
        </p:txBody>
      </p:sp>
      <p:sp>
        <p:nvSpPr>
          <p:cNvPr id="83" name="Rectangle 82"/>
          <p:cNvSpPr/>
          <p:nvPr/>
        </p:nvSpPr>
        <p:spPr>
          <a:xfrm>
            <a:off x="2971800" y="3995928"/>
            <a:ext cx="146304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063240" y="4069080"/>
            <a:ext cx="1280160" cy="292608"/>
          </a:xfrm>
          <a:prstGeom prst="rect">
            <a:avLst/>
          </a:prstGeom>
          <a:noFill/>
        </p:spPr>
        <p:txBody>
          <a:bodyPr wrap="square" lIns="0" rIns="0" tIns="0" bIns="0" anchor="t">
            <a:spAutoFit/>
          </a:bodyPr>
          <a:lstStyle/>
          <a:p>
            <a:pPr algn="l"/>
            <a:r>
              <a:rPr sz="1050" b="0" i="0">
                <a:solidFill>
                  <a:srgbClr val="1A1E2A"/>
                </a:solidFill>
                <a:latin typeface="Calibri"/>
              </a:rPr>
              <a:t>6,912</a:t>
            </a:r>
          </a:p>
        </p:txBody>
      </p:sp>
      <p:sp>
        <p:nvSpPr>
          <p:cNvPr id="85" name="Rectangle 84"/>
          <p:cNvSpPr/>
          <p:nvPr/>
        </p:nvSpPr>
        <p:spPr>
          <a:xfrm>
            <a:off x="4434840" y="3995928"/>
            <a:ext cx="109728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526280" y="4069080"/>
            <a:ext cx="914400" cy="292608"/>
          </a:xfrm>
          <a:prstGeom prst="rect">
            <a:avLst/>
          </a:prstGeom>
          <a:noFill/>
        </p:spPr>
        <p:txBody>
          <a:bodyPr wrap="square" lIns="0" rIns="0" tIns="0" bIns="0" anchor="t">
            <a:spAutoFit/>
          </a:bodyPr>
          <a:lstStyle/>
          <a:p>
            <a:pPr algn="l"/>
            <a:r>
              <a:rPr sz="1050" b="0" i="0">
                <a:solidFill>
                  <a:srgbClr val="1A1E2A"/>
                </a:solidFill>
                <a:latin typeface="Calibri"/>
              </a:rPr>
              <a:t>453</a:t>
            </a:r>
          </a:p>
        </p:txBody>
      </p:sp>
      <p:sp>
        <p:nvSpPr>
          <p:cNvPr id="87" name="Rectangle 86"/>
          <p:cNvSpPr/>
          <p:nvPr/>
        </p:nvSpPr>
        <p:spPr>
          <a:xfrm>
            <a:off x="5532120" y="3995928"/>
            <a:ext cx="21945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623560" y="4069080"/>
            <a:ext cx="2011680" cy="292608"/>
          </a:xfrm>
          <a:prstGeom prst="rect">
            <a:avLst/>
          </a:prstGeom>
          <a:noFill/>
        </p:spPr>
        <p:txBody>
          <a:bodyPr wrap="square" lIns="0" rIns="0" tIns="0" bIns="0" anchor="t">
            <a:spAutoFit/>
          </a:bodyPr>
          <a:lstStyle/>
          <a:p>
            <a:pPr algn="l"/>
            <a:r>
              <a:rPr sz="1050" b="0" i="0">
                <a:solidFill>
                  <a:srgbClr val="1A1E2A"/>
                </a:solidFill>
                <a:latin typeface="Calibri"/>
              </a:rPr>
              <a:t>C3 Slavic</a:t>
            </a:r>
          </a:p>
        </p:txBody>
      </p:sp>
      <p:sp>
        <p:nvSpPr>
          <p:cNvPr id="89" name="Rectangle 88"/>
          <p:cNvSpPr/>
          <p:nvPr/>
        </p:nvSpPr>
        <p:spPr>
          <a:xfrm>
            <a:off x="7726680" y="3995928"/>
            <a:ext cx="182880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818120" y="4069080"/>
            <a:ext cx="1645920" cy="292608"/>
          </a:xfrm>
          <a:prstGeom prst="rect">
            <a:avLst/>
          </a:prstGeom>
          <a:noFill/>
        </p:spPr>
        <p:txBody>
          <a:bodyPr wrap="square" lIns="0" rIns="0" tIns="0" bIns="0" anchor="t">
            <a:spAutoFit/>
          </a:bodyPr>
          <a:lstStyle/>
          <a:p>
            <a:pPr algn="l"/>
            <a:r>
              <a:rPr sz="1050" b="1" i="0">
                <a:solidFill>
                  <a:srgbClr val="2C6E49"/>
                </a:solidFill>
                <a:latin typeface="Calibri"/>
              </a:rPr>
              <a:t>Use — champion</a:t>
            </a:r>
          </a:p>
        </p:txBody>
      </p:sp>
      <p:sp>
        <p:nvSpPr>
          <p:cNvPr id="91" name="Rectangle 90"/>
          <p:cNvSpPr/>
          <p:nvPr/>
        </p:nvSpPr>
        <p:spPr>
          <a:xfrm>
            <a:off x="502920" y="4379976"/>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94360" y="4453128"/>
            <a:ext cx="1554480" cy="292608"/>
          </a:xfrm>
          <a:prstGeom prst="rect">
            <a:avLst/>
          </a:prstGeom>
          <a:noFill/>
        </p:spPr>
        <p:txBody>
          <a:bodyPr wrap="square" lIns="0" rIns="0" tIns="0" bIns="0" anchor="t">
            <a:spAutoFit/>
          </a:bodyPr>
          <a:lstStyle/>
          <a:p>
            <a:pPr algn="l"/>
            <a:r>
              <a:rPr sz="1050" b="0" i="0">
                <a:solidFill>
                  <a:srgbClr val="1A1E2A"/>
                </a:solidFill>
                <a:latin typeface="Calibri"/>
              </a:rPr>
              <a:t>Persian / Farsi</a:t>
            </a:r>
          </a:p>
        </p:txBody>
      </p:sp>
      <p:sp>
        <p:nvSpPr>
          <p:cNvPr id="93" name="Rectangle 92"/>
          <p:cNvSpPr/>
          <p:nvPr/>
        </p:nvSpPr>
        <p:spPr>
          <a:xfrm>
            <a:off x="2240280" y="4379976"/>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331720" y="4453128"/>
            <a:ext cx="548640" cy="292608"/>
          </a:xfrm>
          <a:prstGeom prst="rect">
            <a:avLst/>
          </a:prstGeom>
          <a:noFill/>
        </p:spPr>
        <p:txBody>
          <a:bodyPr wrap="square" lIns="0" rIns="0" tIns="0" bIns="0" anchor="t">
            <a:spAutoFit/>
          </a:bodyPr>
          <a:lstStyle/>
          <a:p>
            <a:pPr algn="l"/>
            <a:r>
              <a:rPr sz="1050" b="0" i="0">
                <a:solidFill>
                  <a:srgbClr val="1A1E2A"/>
                </a:solidFill>
                <a:latin typeface="Calibri"/>
              </a:rPr>
              <a:t>fas</a:t>
            </a:r>
          </a:p>
        </p:txBody>
      </p:sp>
      <p:sp>
        <p:nvSpPr>
          <p:cNvPr id="95" name="Rectangle 94"/>
          <p:cNvSpPr/>
          <p:nvPr/>
        </p:nvSpPr>
        <p:spPr>
          <a:xfrm>
            <a:off x="2971800" y="4379976"/>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63240" y="4453128"/>
            <a:ext cx="1280160" cy="292608"/>
          </a:xfrm>
          <a:prstGeom prst="rect">
            <a:avLst/>
          </a:prstGeom>
          <a:noFill/>
        </p:spPr>
        <p:txBody>
          <a:bodyPr wrap="square" lIns="0" rIns="0" tIns="0" bIns="0" anchor="t">
            <a:spAutoFit/>
          </a:bodyPr>
          <a:lstStyle/>
          <a:p>
            <a:pPr algn="l"/>
            <a:r>
              <a:rPr sz="1050" b="0" i="0">
                <a:solidFill>
                  <a:srgbClr val="1A1E2A"/>
                </a:solidFill>
                <a:latin typeface="Calibri"/>
              </a:rPr>
              <a:t>418</a:t>
            </a:r>
          </a:p>
        </p:txBody>
      </p:sp>
      <p:sp>
        <p:nvSpPr>
          <p:cNvPr id="97" name="Rectangle 96"/>
          <p:cNvSpPr/>
          <p:nvPr/>
        </p:nvSpPr>
        <p:spPr>
          <a:xfrm>
            <a:off x="4434840" y="4379976"/>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26280" y="4453128"/>
            <a:ext cx="914400" cy="292608"/>
          </a:xfrm>
          <a:prstGeom prst="rect">
            <a:avLst/>
          </a:prstGeom>
          <a:noFill/>
        </p:spPr>
        <p:txBody>
          <a:bodyPr wrap="square" lIns="0" rIns="0" tIns="0" bIns="0" anchor="t">
            <a:spAutoFit/>
          </a:bodyPr>
          <a:lstStyle/>
          <a:p>
            <a:pPr algn="l"/>
            <a:r>
              <a:rPr sz="1050" b="0" i="0">
                <a:solidFill>
                  <a:srgbClr val="1A1E2A"/>
                </a:solidFill>
                <a:latin typeface="Calibri"/>
              </a:rPr>
              <a:t>17</a:t>
            </a:r>
          </a:p>
        </p:txBody>
      </p:sp>
      <p:sp>
        <p:nvSpPr>
          <p:cNvPr id="99" name="Rectangle 98"/>
          <p:cNvSpPr/>
          <p:nvPr/>
        </p:nvSpPr>
        <p:spPr>
          <a:xfrm>
            <a:off x="5532120" y="4379976"/>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623560" y="4453128"/>
            <a:ext cx="2011680" cy="292608"/>
          </a:xfrm>
          <a:prstGeom prst="rect">
            <a:avLst/>
          </a:prstGeom>
          <a:noFill/>
        </p:spPr>
        <p:txBody>
          <a:bodyPr wrap="square" lIns="0" rIns="0" tIns="0" bIns="0" anchor="t">
            <a:spAutoFit/>
          </a:bodyPr>
          <a:lstStyle/>
          <a:p>
            <a:pPr algn="l"/>
            <a:r>
              <a:rPr sz="1050" b="0" i="0">
                <a:solidFill>
                  <a:srgbClr val="1A1E2A"/>
                </a:solidFill>
                <a:latin typeface="Calibri"/>
              </a:rPr>
              <a:t>Aux. probe</a:t>
            </a:r>
          </a:p>
        </p:txBody>
      </p:sp>
      <p:sp>
        <p:nvSpPr>
          <p:cNvPr id="101" name="Rectangle 100"/>
          <p:cNvSpPr/>
          <p:nvPr/>
        </p:nvSpPr>
        <p:spPr>
          <a:xfrm>
            <a:off x="7726680" y="4379976"/>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818120" y="4453128"/>
            <a:ext cx="1645920" cy="292608"/>
          </a:xfrm>
          <a:prstGeom prst="rect">
            <a:avLst/>
          </a:prstGeom>
          <a:noFill/>
        </p:spPr>
        <p:txBody>
          <a:bodyPr wrap="square" lIns="0" rIns="0" tIns="0" bIns="0" anchor="t">
            <a:spAutoFit/>
          </a:bodyPr>
          <a:lstStyle/>
          <a:p>
            <a:pPr algn="l"/>
            <a:r>
              <a:rPr sz="1050" b="1" i="0">
                <a:solidFill>
                  <a:srgbClr val="B83A42"/>
                </a:solidFill>
                <a:latin typeface="Calibri"/>
              </a:rPr>
              <a:t>Too thin</a:t>
            </a:r>
          </a:p>
        </p:txBody>
      </p:sp>
      <p:sp>
        <p:nvSpPr>
          <p:cNvPr id="103" name="Rectangle 102"/>
          <p:cNvSpPr/>
          <p:nvPr/>
        </p:nvSpPr>
        <p:spPr>
          <a:xfrm>
            <a:off x="502920" y="4764024"/>
            <a:ext cx="17373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94360" y="4837176"/>
            <a:ext cx="1554480" cy="292608"/>
          </a:xfrm>
          <a:prstGeom prst="rect">
            <a:avLst/>
          </a:prstGeom>
          <a:noFill/>
        </p:spPr>
        <p:txBody>
          <a:bodyPr wrap="square" lIns="0" rIns="0" tIns="0" bIns="0" anchor="t">
            <a:spAutoFit/>
          </a:bodyPr>
          <a:lstStyle/>
          <a:p>
            <a:pPr algn="l"/>
            <a:r>
              <a:rPr sz="1050" b="0" i="0">
                <a:solidFill>
                  <a:srgbClr val="1A1E2A"/>
                </a:solidFill>
                <a:latin typeface="Calibri"/>
              </a:rPr>
              <a:t>Hindi</a:t>
            </a:r>
          </a:p>
        </p:txBody>
      </p:sp>
      <p:sp>
        <p:nvSpPr>
          <p:cNvPr id="105" name="Rectangle 104"/>
          <p:cNvSpPr/>
          <p:nvPr/>
        </p:nvSpPr>
        <p:spPr>
          <a:xfrm>
            <a:off x="2240280" y="4764024"/>
            <a:ext cx="73152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331720" y="4837176"/>
            <a:ext cx="548640" cy="292608"/>
          </a:xfrm>
          <a:prstGeom prst="rect">
            <a:avLst/>
          </a:prstGeom>
          <a:noFill/>
        </p:spPr>
        <p:txBody>
          <a:bodyPr wrap="square" lIns="0" rIns="0" tIns="0" bIns="0" anchor="t">
            <a:spAutoFit/>
          </a:bodyPr>
          <a:lstStyle/>
          <a:p>
            <a:pPr algn="l"/>
            <a:r>
              <a:rPr sz="1050" b="0" i="0">
                <a:solidFill>
                  <a:srgbClr val="1A1E2A"/>
                </a:solidFill>
                <a:latin typeface="Calibri"/>
              </a:rPr>
              <a:t>hin</a:t>
            </a:r>
          </a:p>
        </p:txBody>
      </p:sp>
      <p:sp>
        <p:nvSpPr>
          <p:cNvPr id="107" name="Rectangle 106"/>
          <p:cNvSpPr/>
          <p:nvPr/>
        </p:nvSpPr>
        <p:spPr>
          <a:xfrm>
            <a:off x="2971800" y="4764024"/>
            <a:ext cx="146304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063240" y="4837176"/>
            <a:ext cx="1280160" cy="292608"/>
          </a:xfrm>
          <a:prstGeom prst="rect">
            <a:avLst/>
          </a:prstGeom>
          <a:noFill/>
        </p:spPr>
        <p:txBody>
          <a:bodyPr wrap="square" lIns="0" rIns="0" tIns="0" bIns="0" anchor="t">
            <a:spAutoFit/>
          </a:bodyPr>
          <a:lstStyle/>
          <a:p>
            <a:pPr algn="l"/>
            <a:r>
              <a:rPr sz="1050" b="0" i="0">
                <a:solidFill>
                  <a:srgbClr val="1A1E2A"/>
                </a:solidFill>
                <a:latin typeface="Calibri"/>
              </a:rPr>
              <a:t>7,149</a:t>
            </a:r>
          </a:p>
        </p:txBody>
      </p:sp>
      <p:sp>
        <p:nvSpPr>
          <p:cNvPr id="109" name="Rectangle 108"/>
          <p:cNvSpPr/>
          <p:nvPr/>
        </p:nvSpPr>
        <p:spPr>
          <a:xfrm>
            <a:off x="4434840" y="4764024"/>
            <a:ext cx="109728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26280" y="4837176"/>
            <a:ext cx="914400" cy="292608"/>
          </a:xfrm>
          <a:prstGeom prst="rect">
            <a:avLst/>
          </a:prstGeom>
          <a:noFill/>
        </p:spPr>
        <p:txBody>
          <a:bodyPr wrap="square" lIns="0" rIns="0" tIns="0" bIns="0" anchor="t">
            <a:spAutoFit/>
          </a:bodyPr>
          <a:lstStyle/>
          <a:p>
            <a:pPr algn="l"/>
            <a:r>
              <a:rPr sz="1050" b="0" i="0">
                <a:solidFill>
                  <a:srgbClr val="1A1E2A"/>
                </a:solidFill>
                <a:latin typeface="Calibri"/>
              </a:rPr>
              <a:t>833</a:t>
            </a:r>
          </a:p>
        </p:txBody>
      </p:sp>
      <p:sp>
        <p:nvSpPr>
          <p:cNvPr id="111" name="Rectangle 110"/>
          <p:cNvSpPr/>
          <p:nvPr/>
        </p:nvSpPr>
        <p:spPr>
          <a:xfrm>
            <a:off x="5532120" y="4764024"/>
            <a:ext cx="21945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23560" y="4837176"/>
            <a:ext cx="2011680" cy="292608"/>
          </a:xfrm>
          <a:prstGeom prst="rect">
            <a:avLst/>
          </a:prstGeom>
          <a:noFill/>
        </p:spPr>
        <p:txBody>
          <a:bodyPr wrap="square" lIns="0" rIns="0" tIns="0" bIns="0" anchor="t">
            <a:spAutoFit/>
          </a:bodyPr>
          <a:lstStyle/>
          <a:p>
            <a:pPr algn="l"/>
            <a:r>
              <a:rPr sz="1050" b="0" i="0">
                <a:solidFill>
                  <a:srgbClr val="1A1E2A"/>
                </a:solidFill>
                <a:latin typeface="Calibri"/>
              </a:rPr>
              <a:t>Stress sample</a:t>
            </a:r>
          </a:p>
        </p:txBody>
      </p:sp>
      <p:sp>
        <p:nvSpPr>
          <p:cNvPr id="113" name="Rectangle 112"/>
          <p:cNvSpPr/>
          <p:nvPr/>
        </p:nvSpPr>
        <p:spPr>
          <a:xfrm>
            <a:off x="7726680" y="4764024"/>
            <a:ext cx="182880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818120" y="4837176"/>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115" name="Rectangle 114"/>
          <p:cNvSpPr/>
          <p:nvPr/>
        </p:nvSpPr>
        <p:spPr>
          <a:xfrm>
            <a:off x="502920" y="5148072"/>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94360" y="5221224"/>
            <a:ext cx="1554480" cy="292608"/>
          </a:xfrm>
          <a:prstGeom prst="rect">
            <a:avLst/>
          </a:prstGeom>
          <a:noFill/>
        </p:spPr>
        <p:txBody>
          <a:bodyPr wrap="square" lIns="0" rIns="0" tIns="0" bIns="0" anchor="t">
            <a:spAutoFit/>
          </a:bodyPr>
          <a:lstStyle/>
          <a:p>
            <a:pPr algn="l"/>
            <a:r>
              <a:rPr sz="1050" b="0" i="0">
                <a:solidFill>
                  <a:srgbClr val="1A1E2A"/>
                </a:solidFill>
                <a:latin typeface="Calibri"/>
              </a:rPr>
              <a:t>Arabic</a:t>
            </a:r>
          </a:p>
        </p:txBody>
      </p:sp>
      <p:sp>
        <p:nvSpPr>
          <p:cNvPr id="117" name="Rectangle 116"/>
          <p:cNvSpPr/>
          <p:nvPr/>
        </p:nvSpPr>
        <p:spPr>
          <a:xfrm>
            <a:off x="2240280" y="5148072"/>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331720" y="5221224"/>
            <a:ext cx="548640" cy="292608"/>
          </a:xfrm>
          <a:prstGeom prst="rect">
            <a:avLst/>
          </a:prstGeom>
          <a:noFill/>
        </p:spPr>
        <p:txBody>
          <a:bodyPr wrap="square" lIns="0" rIns="0" tIns="0" bIns="0" anchor="t">
            <a:spAutoFit/>
          </a:bodyPr>
          <a:lstStyle/>
          <a:p>
            <a:pPr algn="l"/>
            <a:r>
              <a:rPr sz="1050" b="0" i="0">
                <a:solidFill>
                  <a:srgbClr val="1A1E2A"/>
                </a:solidFill>
                <a:latin typeface="Calibri"/>
              </a:rPr>
              <a:t>ara</a:t>
            </a:r>
          </a:p>
        </p:txBody>
      </p:sp>
      <p:sp>
        <p:nvSpPr>
          <p:cNvPr id="119" name="Rectangle 118"/>
          <p:cNvSpPr/>
          <p:nvPr/>
        </p:nvSpPr>
        <p:spPr>
          <a:xfrm>
            <a:off x="2971800" y="5148072"/>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063240" y="5221224"/>
            <a:ext cx="1280160" cy="292608"/>
          </a:xfrm>
          <a:prstGeom prst="rect">
            <a:avLst/>
          </a:prstGeom>
          <a:noFill/>
        </p:spPr>
        <p:txBody>
          <a:bodyPr wrap="square" lIns="0" rIns="0" tIns="0" bIns="0" anchor="t">
            <a:spAutoFit/>
          </a:bodyPr>
          <a:lstStyle/>
          <a:p>
            <a:pPr algn="l"/>
            <a:r>
              <a:rPr sz="1050" b="0" i="0">
                <a:solidFill>
                  <a:srgbClr val="1A1E2A"/>
                </a:solidFill>
                <a:latin typeface="Calibri"/>
              </a:rPr>
              <a:t>14,201</a:t>
            </a:r>
          </a:p>
        </p:txBody>
      </p:sp>
      <p:sp>
        <p:nvSpPr>
          <p:cNvPr id="121" name="Rectangle 120"/>
          <p:cNvSpPr/>
          <p:nvPr/>
        </p:nvSpPr>
        <p:spPr>
          <a:xfrm>
            <a:off x="4434840" y="5148072"/>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526280" y="5221224"/>
            <a:ext cx="914400" cy="292608"/>
          </a:xfrm>
          <a:prstGeom prst="rect">
            <a:avLst/>
          </a:prstGeom>
          <a:noFill/>
        </p:spPr>
        <p:txBody>
          <a:bodyPr wrap="square" lIns="0" rIns="0" tIns="0" bIns="0" anchor="t">
            <a:spAutoFit/>
          </a:bodyPr>
          <a:lstStyle/>
          <a:p>
            <a:pPr algn="l"/>
            <a:r>
              <a:rPr sz="1050" b="0" i="0">
                <a:solidFill>
                  <a:srgbClr val="1A1E2A"/>
                </a:solidFill>
                <a:latin typeface="Calibri"/>
              </a:rPr>
              <a:t>931</a:t>
            </a:r>
          </a:p>
        </p:txBody>
      </p:sp>
      <p:sp>
        <p:nvSpPr>
          <p:cNvPr id="123" name="Rectangle 122"/>
          <p:cNvSpPr/>
          <p:nvPr/>
        </p:nvSpPr>
        <p:spPr>
          <a:xfrm>
            <a:off x="5532120" y="5148072"/>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623560" y="5221224"/>
            <a:ext cx="2011680" cy="292608"/>
          </a:xfrm>
          <a:prstGeom prst="rect">
            <a:avLst/>
          </a:prstGeom>
          <a:noFill/>
        </p:spPr>
        <p:txBody>
          <a:bodyPr wrap="square" lIns="0" rIns="0" tIns="0" bIns="0" anchor="t">
            <a:spAutoFit/>
          </a:bodyPr>
          <a:lstStyle/>
          <a:p>
            <a:pPr algn="l"/>
            <a:r>
              <a:rPr sz="1050" b="0" i="0">
                <a:solidFill>
                  <a:srgbClr val="1A1E2A"/>
                </a:solidFill>
                <a:latin typeface="Calibri"/>
              </a:rPr>
              <a:t>Stress sample</a:t>
            </a:r>
          </a:p>
        </p:txBody>
      </p:sp>
      <p:sp>
        <p:nvSpPr>
          <p:cNvPr id="125" name="Rectangle 124"/>
          <p:cNvSpPr/>
          <p:nvPr/>
        </p:nvSpPr>
        <p:spPr>
          <a:xfrm>
            <a:off x="7726680" y="5148072"/>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818120" y="5221224"/>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127" name="Rectangle 126"/>
          <p:cNvSpPr/>
          <p:nvPr/>
        </p:nvSpPr>
        <p:spPr>
          <a:xfrm>
            <a:off x="502920" y="5532120"/>
            <a:ext cx="17373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94360" y="5605272"/>
            <a:ext cx="1554480" cy="292608"/>
          </a:xfrm>
          <a:prstGeom prst="rect">
            <a:avLst/>
          </a:prstGeom>
          <a:noFill/>
        </p:spPr>
        <p:txBody>
          <a:bodyPr wrap="square" lIns="0" rIns="0" tIns="0" bIns="0" anchor="t">
            <a:spAutoFit/>
          </a:bodyPr>
          <a:lstStyle/>
          <a:p>
            <a:pPr algn="l"/>
            <a:r>
              <a:rPr sz="1050" b="0" i="0">
                <a:solidFill>
                  <a:srgbClr val="1A1E2A"/>
                </a:solidFill>
                <a:latin typeface="Calibri"/>
              </a:rPr>
              <a:t>Malayalam</a:t>
            </a:r>
          </a:p>
        </p:txBody>
      </p:sp>
      <p:sp>
        <p:nvSpPr>
          <p:cNvPr id="129" name="Rectangle 128"/>
          <p:cNvSpPr/>
          <p:nvPr/>
        </p:nvSpPr>
        <p:spPr>
          <a:xfrm>
            <a:off x="2240280" y="5532120"/>
            <a:ext cx="73152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331720" y="5605272"/>
            <a:ext cx="548640" cy="292608"/>
          </a:xfrm>
          <a:prstGeom prst="rect">
            <a:avLst/>
          </a:prstGeom>
          <a:noFill/>
        </p:spPr>
        <p:txBody>
          <a:bodyPr wrap="square" lIns="0" rIns="0" tIns="0" bIns="0" anchor="t">
            <a:spAutoFit/>
          </a:bodyPr>
          <a:lstStyle/>
          <a:p>
            <a:pPr algn="l"/>
            <a:r>
              <a:rPr sz="1050" b="0" i="0">
                <a:solidFill>
                  <a:srgbClr val="1A1E2A"/>
                </a:solidFill>
                <a:latin typeface="Calibri"/>
              </a:rPr>
              <a:t>mal</a:t>
            </a:r>
          </a:p>
        </p:txBody>
      </p:sp>
      <p:sp>
        <p:nvSpPr>
          <p:cNvPr id="131" name="Rectangle 130"/>
          <p:cNvSpPr/>
          <p:nvPr/>
        </p:nvSpPr>
        <p:spPr>
          <a:xfrm>
            <a:off x="2971800" y="5532120"/>
            <a:ext cx="146304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063240" y="5605272"/>
            <a:ext cx="1280160" cy="292608"/>
          </a:xfrm>
          <a:prstGeom prst="rect">
            <a:avLst/>
          </a:prstGeom>
          <a:noFill/>
        </p:spPr>
        <p:txBody>
          <a:bodyPr wrap="square" lIns="0" rIns="0" tIns="0" bIns="0" anchor="t">
            <a:spAutoFit/>
          </a:bodyPr>
          <a:lstStyle/>
          <a:p>
            <a:pPr algn="l"/>
            <a:r>
              <a:rPr sz="1050" b="0" i="0">
                <a:solidFill>
                  <a:srgbClr val="1A1E2A"/>
                </a:solidFill>
                <a:latin typeface="Calibri"/>
              </a:rPr>
              <a:t>1,206</a:t>
            </a:r>
          </a:p>
        </p:txBody>
      </p:sp>
      <p:sp>
        <p:nvSpPr>
          <p:cNvPr id="133" name="Rectangle 132"/>
          <p:cNvSpPr/>
          <p:nvPr/>
        </p:nvSpPr>
        <p:spPr>
          <a:xfrm>
            <a:off x="4434840" y="5532120"/>
            <a:ext cx="109728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26280" y="5605272"/>
            <a:ext cx="914400" cy="292608"/>
          </a:xfrm>
          <a:prstGeom prst="rect">
            <a:avLst/>
          </a:prstGeom>
          <a:noFill/>
        </p:spPr>
        <p:txBody>
          <a:bodyPr wrap="square" lIns="0" rIns="0" tIns="0" bIns="0" anchor="t">
            <a:spAutoFit/>
          </a:bodyPr>
          <a:lstStyle/>
          <a:p>
            <a:pPr algn="l"/>
            <a:r>
              <a:rPr sz="1050" b="0" i="0">
                <a:solidFill>
                  <a:srgbClr val="1A1E2A"/>
                </a:solidFill>
                <a:latin typeface="Calibri"/>
              </a:rPr>
              <a:t>4</a:t>
            </a:r>
          </a:p>
        </p:txBody>
      </p:sp>
      <p:sp>
        <p:nvSpPr>
          <p:cNvPr id="135" name="Rectangle 134"/>
          <p:cNvSpPr/>
          <p:nvPr/>
        </p:nvSpPr>
        <p:spPr>
          <a:xfrm>
            <a:off x="5532120" y="5532120"/>
            <a:ext cx="219456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623560" y="5605272"/>
            <a:ext cx="2011680" cy="292608"/>
          </a:xfrm>
          <a:prstGeom prst="rect">
            <a:avLst/>
          </a:prstGeom>
          <a:noFill/>
        </p:spPr>
        <p:txBody>
          <a:bodyPr wrap="square" lIns="0" rIns="0" tIns="0" bIns="0" anchor="t">
            <a:spAutoFit/>
          </a:bodyPr>
          <a:lstStyle/>
          <a:p>
            <a:pPr algn="l"/>
            <a:r>
              <a:rPr sz="1050" b="0" i="0">
                <a:solidFill>
                  <a:srgbClr val="1A1E2A"/>
                </a:solidFill>
                <a:latin typeface="Calibri"/>
              </a:rPr>
              <a:t>Stress sample</a:t>
            </a:r>
          </a:p>
        </p:txBody>
      </p:sp>
      <p:sp>
        <p:nvSpPr>
          <p:cNvPr id="137" name="Rectangle 136"/>
          <p:cNvSpPr/>
          <p:nvPr/>
        </p:nvSpPr>
        <p:spPr>
          <a:xfrm>
            <a:off x="7726680" y="5532120"/>
            <a:ext cx="1828800" cy="384048"/>
          </a:xfrm>
          <a:prstGeom prst="rect">
            <a:avLst/>
          </a:prstGeom>
          <a:solidFill>
            <a:srgbClr val="FFFFFF"/>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818120" y="5605272"/>
            <a:ext cx="1645920" cy="292608"/>
          </a:xfrm>
          <a:prstGeom prst="rect">
            <a:avLst/>
          </a:prstGeom>
          <a:noFill/>
        </p:spPr>
        <p:txBody>
          <a:bodyPr wrap="square" lIns="0" rIns="0" tIns="0" bIns="0" anchor="t">
            <a:spAutoFit/>
          </a:bodyPr>
          <a:lstStyle/>
          <a:p>
            <a:pPr algn="l"/>
            <a:r>
              <a:rPr sz="1050" b="1" i="0">
                <a:solidFill>
                  <a:srgbClr val="B83A42"/>
                </a:solidFill>
                <a:latin typeface="Calibri"/>
              </a:rPr>
              <a:t>Cross-ling only</a:t>
            </a:r>
          </a:p>
        </p:txBody>
      </p:sp>
      <p:sp>
        <p:nvSpPr>
          <p:cNvPr id="139" name="Rectangle 138"/>
          <p:cNvSpPr/>
          <p:nvPr/>
        </p:nvSpPr>
        <p:spPr>
          <a:xfrm>
            <a:off x="502920" y="5916168"/>
            <a:ext cx="17373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94360" y="5989320"/>
            <a:ext cx="1554480" cy="292608"/>
          </a:xfrm>
          <a:prstGeom prst="rect">
            <a:avLst/>
          </a:prstGeom>
          <a:noFill/>
        </p:spPr>
        <p:txBody>
          <a:bodyPr wrap="square" lIns="0" rIns="0" tIns="0" bIns="0" anchor="t">
            <a:spAutoFit/>
          </a:bodyPr>
          <a:lstStyle/>
          <a:p>
            <a:pPr algn="l"/>
            <a:r>
              <a:rPr sz="1050" b="0" i="0">
                <a:solidFill>
                  <a:srgbClr val="1A1E2A"/>
                </a:solidFill>
                <a:latin typeface="Calibri"/>
              </a:rPr>
              <a:t>Mandarin</a:t>
            </a:r>
          </a:p>
        </p:txBody>
      </p:sp>
      <p:sp>
        <p:nvSpPr>
          <p:cNvPr id="141" name="Rectangle 140"/>
          <p:cNvSpPr/>
          <p:nvPr/>
        </p:nvSpPr>
        <p:spPr>
          <a:xfrm>
            <a:off x="2240280" y="5916168"/>
            <a:ext cx="73152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331720" y="5989320"/>
            <a:ext cx="548640" cy="292608"/>
          </a:xfrm>
          <a:prstGeom prst="rect">
            <a:avLst/>
          </a:prstGeom>
          <a:noFill/>
        </p:spPr>
        <p:txBody>
          <a:bodyPr wrap="square" lIns="0" rIns="0" tIns="0" bIns="0" anchor="t">
            <a:spAutoFit/>
          </a:bodyPr>
          <a:lstStyle/>
          <a:p>
            <a:pPr algn="l"/>
            <a:r>
              <a:rPr sz="1050" b="0" i="0">
                <a:solidFill>
                  <a:srgbClr val="1A1E2A"/>
                </a:solidFill>
                <a:latin typeface="Calibri"/>
              </a:rPr>
              <a:t>zho</a:t>
            </a:r>
          </a:p>
        </p:txBody>
      </p:sp>
      <p:sp>
        <p:nvSpPr>
          <p:cNvPr id="143" name="Rectangle 142"/>
          <p:cNvSpPr/>
          <p:nvPr/>
        </p:nvSpPr>
        <p:spPr>
          <a:xfrm>
            <a:off x="2971800" y="5916168"/>
            <a:ext cx="146304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063240" y="5989320"/>
            <a:ext cx="1280160" cy="292608"/>
          </a:xfrm>
          <a:prstGeom prst="rect">
            <a:avLst/>
          </a:prstGeom>
          <a:noFill/>
        </p:spPr>
        <p:txBody>
          <a:bodyPr wrap="square" lIns="0" rIns="0" tIns="0" bIns="0" anchor="t">
            <a:spAutoFit/>
          </a:bodyPr>
          <a:lstStyle/>
          <a:p>
            <a:pPr algn="l"/>
            <a:r>
              <a:rPr sz="1050" b="0" i="0">
                <a:solidFill>
                  <a:srgbClr val="1A1E2A"/>
                </a:solidFill>
                <a:latin typeface="Calibri"/>
              </a:rPr>
              <a:t>2,586</a:t>
            </a:r>
          </a:p>
        </p:txBody>
      </p:sp>
      <p:sp>
        <p:nvSpPr>
          <p:cNvPr id="145" name="Rectangle 144"/>
          <p:cNvSpPr/>
          <p:nvPr/>
        </p:nvSpPr>
        <p:spPr>
          <a:xfrm>
            <a:off x="4434840" y="5916168"/>
            <a:ext cx="109728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526280" y="5989320"/>
            <a:ext cx="914400" cy="292608"/>
          </a:xfrm>
          <a:prstGeom prst="rect">
            <a:avLst/>
          </a:prstGeom>
          <a:noFill/>
        </p:spPr>
        <p:txBody>
          <a:bodyPr wrap="square" lIns="0" rIns="0" tIns="0" bIns="0" anchor="t">
            <a:spAutoFit/>
          </a:bodyPr>
          <a:lstStyle/>
          <a:p>
            <a:pPr algn="l"/>
            <a:r>
              <a:rPr sz="1050" b="0" i="0">
                <a:solidFill>
                  <a:srgbClr val="1A1E2A"/>
                </a:solidFill>
                <a:latin typeface="Calibri"/>
              </a:rPr>
              <a:t>595</a:t>
            </a:r>
          </a:p>
        </p:txBody>
      </p:sp>
      <p:sp>
        <p:nvSpPr>
          <p:cNvPr id="147" name="Rectangle 146"/>
          <p:cNvSpPr/>
          <p:nvPr/>
        </p:nvSpPr>
        <p:spPr>
          <a:xfrm>
            <a:off x="5532120" y="5916168"/>
            <a:ext cx="219456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623560" y="5989320"/>
            <a:ext cx="2011680" cy="292608"/>
          </a:xfrm>
          <a:prstGeom prst="rect">
            <a:avLst/>
          </a:prstGeom>
          <a:noFill/>
        </p:spPr>
        <p:txBody>
          <a:bodyPr wrap="square" lIns="0" rIns="0" tIns="0" bIns="0" anchor="t">
            <a:spAutoFit/>
          </a:bodyPr>
          <a:lstStyle/>
          <a:p>
            <a:pPr algn="l"/>
            <a:r>
              <a:rPr sz="1050" b="0" i="0">
                <a:solidFill>
                  <a:srgbClr val="1A1E2A"/>
                </a:solidFill>
                <a:latin typeface="Calibri"/>
              </a:rPr>
              <a:t>Stress sample</a:t>
            </a:r>
          </a:p>
        </p:txBody>
      </p:sp>
      <p:sp>
        <p:nvSpPr>
          <p:cNvPr id="149" name="Rectangle 148"/>
          <p:cNvSpPr/>
          <p:nvPr/>
        </p:nvSpPr>
        <p:spPr>
          <a:xfrm>
            <a:off x="7726680" y="5916168"/>
            <a:ext cx="1828800" cy="384048"/>
          </a:xfrm>
          <a:prstGeom prst="rect">
            <a:avLst/>
          </a:prstGeom>
          <a:solidFill>
            <a:srgbClr val="ECF2F7"/>
          </a:solidFill>
          <a:ln w="6350">
            <a:solidFill>
              <a:srgbClr val="D0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7818120" y="5989320"/>
            <a:ext cx="1645920" cy="292608"/>
          </a:xfrm>
          <a:prstGeom prst="rect">
            <a:avLst/>
          </a:prstGeom>
          <a:noFill/>
        </p:spPr>
        <p:txBody>
          <a:bodyPr wrap="square" lIns="0" rIns="0" tIns="0" bIns="0" anchor="t">
            <a:spAutoFit/>
          </a:bodyPr>
          <a:lstStyle/>
          <a:p>
            <a:pPr algn="l"/>
            <a:r>
              <a:rPr sz="1050" b="1" i="0">
                <a:solidFill>
                  <a:srgbClr val="2C6E49"/>
                </a:solidFill>
                <a:latin typeface="Calibri"/>
              </a:rPr>
              <a:t>Use</a:t>
            </a:r>
          </a:p>
        </p:txBody>
      </p:sp>
      <p:sp>
        <p:nvSpPr>
          <p:cNvPr id="151" name="TextBox 150"/>
          <p:cNvSpPr txBox="1"/>
          <p:nvPr/>
        </p:nvSpPr>
        <p:spPr>
          <a:xfrm>
            <a:off x="502920" y="6355080"/>
            <a:ext cx="10972800" cy="228600"/>
          </a:xfrm>
          <a:prstGeom prst="rect">
            <a:avLst/>
          </a:prstGeom>
          <a:noFill/>
        </p:spPr>
        <p:txBody>
          <a:bodyPr wrap="square" lIns="0" rIns="0" tIns="0" bIns="0" anchor="t">
            <a:spAutoFit/>
          </a:bodyPr>
          <a:lstStyle/>
          <a:p>
            <a:pPr algn="l"/>
            <a:r>
              <a:rPr sz="850" b="0" i="1">
                <a:solidFill>
                  <a:srgbClr val="606A78"/>
                </a:solidFill>
                <a:latin typeface="Calibri"/>
              </a:rPr>
              <a:t>Source: Pikuliak et al. (2023) Appendix C, Table 5 — counts from MultiClaim v1; v2 scales proportionally to 435k claims / 89k posts.</a:t>
            </a:r>
          </a:p>
        </p:txBody>
      </p:sp>
      <p:sp>
        <p:nvSpPr>
          <p:cNvPr id="152" name="TextBox 151"/>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153" name="TextBox 152"/>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SPOTLIGHT</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Why Malayalam needs special handling</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83080"/>
            <a:ext cx="5029200" cy="4160520"/>
          </a:xfrm>
          <a:prstGeom prst="rect">
            <a:avLst/>
          </a:prstGeom>
          <a:solidFill>
            <a:srgbClr val="ECF2F7"/>
          </a:solidFill>
          <a:ln w="19050">
            <a:solidFill>
              <a:srgbClr val="B83A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83080"/>
            <a:ext cx="5029200" cy="502920"/>
          </a:xfrm>
          <a:prstGeom prst="rect">
            <a:avLst/>
          </a:prstGeom>
          <a:solidFill>
            <a:srgbClr val="B8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65376"/>
            <a:ext cx="4572000" cy="365760"/>
          </a:xfrm>
          <a:prstGeom prst="rect">
            <a:avLst/>
          </a:prstGeom>
          <a:noFill/>
        </p:spPr>
        <p:txBody>
          <a:bodyPr wrap="square" lIns="0" rIns="0" tIns="0" bIns="0" anchor="t">
            <a:spAutoFit/>
          </a:bodyPr>
          <a:lstStyle/>
          <a:p>
            <a:pPr algn="l"/>
            <a:r>
              <a:rPr sz="1200" b="1" i="0">
                <a:solidFill>
                  <a:srgbClr val="FFFFFF"/>
                </a:solidFill>
                <a:latin typeface="Calibri"/>
              </a:rPr>
              <a:t>MULTICLAIM v2 — MALAYALAM</a:t>
            </a:r>
          </a:p>
        </p:txBody>
      </p:sp>
      <p:sp>
        <p:nvSpPr>
          <p:cNvPr id="10" name="TextBox 9"/>
          <p:cNvSpPr txBox="1"/>
          <p:nvPr/>
        </p:nvSpPr>
        <p:spPr>
          <a:xfrm>
            <a:off x="777240" y="2468880"/>
            <a:ext cx="4754880" cy="457200"/>
          </a:xfrm>
          <a:prstGeom prst="rect">
            <a:avLst/>
          </a:prstGeom>
          <a:noFill/>
        </p:spPr>
        <p:txBody>
          <a:bodyPr wrap="square" lIns="0" rIns="0" tIns="0" bIns="0" anchor="t">
            <a:spAutoFit/>
          </a:bodyPr>
          <a:lstStyle/>
          <a:p>
            <a:pPr algn="l"/>
            <a:r>
              <a:rPr sz="1200" b="0" i="1">
                <a:solidFill>
                  <a:srgbClr val="606A78"/>
                </a:solidFill>
                <a:latin typeface="Calibri"/>
              </a:rPr>
              <a:t>Fact-checks</a:t>
            </a:r>
          </a:p>
        </p:txBody>
      </p:sp>
      <p:sp>
        <p:nvSpPr>
          <p:cNvPr id="11" name="TextBox 10"/>
          <p:cNvSpPr txBox="1"/>
          <p:nvPr/>
        </p:nvSpPr>
        <p:spPr>
          <a:xfrm>
            <a:off x="777240" y="2788920"/>
            <a:ext cx="4754880" cy="914400"/>
          </a:xfrm>
          <a:prstGeom prst="rect">
            <a:avLst/>
          </a:prstGeom>
          <a:noFill/>
        </p:spPr>
        <p:txBody>
          <a:bodyPr wrap="square" lIns="0" rIns="0" tIns="0" bIns="0" anchor="t">
            <a:spAutoFit/>
          </a:bodyPr>
          <a:lstStyle/>
          <a:p>
            <a:pPr algn="l"/>
            <a:r>
              <a:rPr sz="5400" b="1" i="0">
                <a:solidFill>
                  <a:srgbClr val="0A4E7A"/>
                </a:solidFill>
                <a:latin typeface="Calibri"/>
              </a:rPr>
              <a:t>1,206</a:t>
            </a:r>
          </a:p>
        </p:txBody>
      </p:sp>
      <p:sp>
        <p:nvSpPr>
          <p:cNvPr id="12" name="TextBox 11"/>
          <p:cNvSpPr txBox="1"/>
          <p:nvPr/>
        </p:nvSpPr>
        <p:spPr>
          <a:xfrm>
            <a:off x="777240" y="4023360"/>
            <a:ext cx="4754880" cy="457200"/>
          </a:xfrm>
          <a:prstGeom prst="rect">
            <a:avLst/>
          </a:prstGeom>
          <a:noFill/>
        </p:spPr>
        <p:txBody>
          <a:bodyPr wrap="square" lIns="0" rIns="0" tIns="0" bIns="0" anchor="t">
            <a:spAutoFit/>
          </a:bodyPr>
          <a:lstStyle/>
          <a:p>
            <a:pPr algn="l"/>
            <a:r>
              <a:rPr sz="1200" b="0" i="1">
                <a:solidFill>
                  <a:srgbClr val="606A78"/>
                </a:solidFill>
                <a:latin typeface="Calibri"/>
              </a:rPr>
              <a:t>Social-media posts</a:t>
            </a:r>
          </a:p>
        </p:txBody>
      </p:sp>
      <p:sp>
        <p:nvSpPr>
          <p:cNvPr id="13" name="TextBox 12"/>
          <p:cNvSpPr txBox="1"/>
          <p:nvPr/>
        </p:nvSpPr>
        <p:spPr>
          <a:xfrm>
            <a:off x="777240" y="4343400"/>
            <a:ext cx="4754880" cy="914400"/>
          </a:xfrm>
          <a:prstGeom prst="rect">
            <a:avLst/>
          </a:prstGeom>
          <a:noFill/>
        </p:spPr>
        <p:txBody>
          <a:bodyPr wrap="square" lIns="0" rIns="0" tIns="0" bIns="0" anchor="t">
            <a:spAutoFit/>
          </a:bodyPr>
          <a:lstStyle/>
          <a:p>
            <a:pPr algn="l"/>
            <a:r>
              <a:rPr sz="5400" b="1" i="0">
                <a:solidFill>
                  <a:srgbClr val="B83A42"/>
                </a:solidFill>
                <a:latin typeface="Calibri"/>
              </a:rPr>
              <a:t>4</a:t>
            </a:r>
          </a:p>
        </p:txBody>
      </p:sp>
      <p:sp>
        <p:nvSpPr>
          <p:cNvPr id="14" name="TextBox 13"/>
          <p:cNvSpPr txBox="1"/>
          <p:nvPr/>
        </p:nvSpPr>
        <p:spPr>
          <a:xfrm>
            <a:off x="777240" y="5349240"/>
            <a:ext cx="4754880" cy="457200"/>
          </a:xfrm>
          <a:prstGeom prst="rect">
            <a:avLst/>
          </a:prstGeom>
          <a:noFill/>
        </p:spPr>
        <p:txBody>
          <a:bodyPr wrap="square" lIns="0" rIns="0" tIns="0" bIns="0" anchor="t">
            <a:spAutoFit/>
          </a:bodyPr>
          <a:lstStyle/>
          <a:p>
            <a:pPr algn="l"/>
            <a:r>
              <a:rPr sz="1150" b="0" i="1">
                <a:solidFill>
                  <a:srgbClr val="606A78"/>
                </a:solidFill>
                <a:latin typeface="Calibri"/>
              </a:rPr>
              <a:t>Pairs available for monolingual retrieval</a:t>
            </a:r>
          </a:p>
        </p:txBody>
      </p:sp>
      <p:sp>
        <p:nvSpPr>
          <p:cNvPr id="15" name="TextBox 14"/>
          <p:cNvSpPr txBox="1"/>
          <p:nvPr/>
        </p:nvSpPr>
        <p:spPr>
          <a:xfrm>
            <a:off x="777240" y="5577840"/>
            <a:ext cx="4754880" cy="365760"/>
          </a:xfrm>
          <a:prstGeom prst="rect">
            <a:avLst/>
          </a:prstGeom>
          <a:noFill/>
        </p:spPr>
        <p:txBody>
          <a:bodyPr wrap="square" lIns="0" rIns="0" tIns="0" bIns="0" anchor="t">
            <a:spAutoFit/>
          </a:bodyPr>
          <a:lstStyle/>
          <a:p>
            <a:pPr algn="l"/>
            <a:r>
              <a:rPr sz="2000" b="1" i="0">
                <a:solidFill>
                  <a:srgbClr val="B83A42"/>
                </a:solidFill>
                <a:latin typeface="Calibri"/>
              </a:rPr>
              <a:t>&lt; 5</a:t>
            </a:r>
          </a:p>
        </p:txBody>
      </p:sp>
      <p:sp>
        <p:nvSpPr>
          <p:cNvPr id="16" name="TextBox 15"/>
          <p:cNvSpPr txBox="1"/>
          <p:nvPr/>
        </p:nvSpPr>
        <p:spPr>
          <a:xfrm>
            <a:off x="5989320" y="1828800"/>
            <a:ext cx="5760720" cy="457200"/>
          </a:xfrm>
          <a:prstGeom prst="rect">
            <a:avLst/>
          </a:prstGeom>
          <a:noFill/>
        </p:spPr>
        <p:txBody>
          <a:bodyPr wrap="square" lIns="0" rIns="0" tIns="0" bIns="0" anchor="t">
            <a:spAutoFit/>
          </a:bodyPr>
          <a:lstStyle/>
          <a:p>
            <a:pPr algn="l"/>
            <a:r>
              <a:rPr sz="1800" b="1" i="0">
                <a:solidFill>
                  <a:srgbClr val="141E46"/>
                </a:solidFill>
                <a:latin typeface="Calibri"/>
              </a:rPr>
              <a:t>Why this is a problem</a:t>
            </a:r>
          </a:p>
        </p:txBody>
      </p:sp>
      <p:sp>
        <p:nvSpPr>
          <p:cNvPr id="17" name="Rectangle 16"/>
          <p:cNvSpPr/>
          <p:nvPr/>
        </p:nvSpPr>
        <p:spPr>
          <a:xfrm>
            <a:off x="5989320" y="2331720"/>
            <a:ext cx="73152" cy="86868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2331720"/>
            <a:ext cx="5577840" cy="365760"/>
          </a:xfrm>
          <a:prstGeom prst="rect">
            <a:avLst/>
          </a:prstGeom>
          <a:noFill/>
        </p:spPr>
        <p:txBody>
          <a:bodyPr wrap="square" lIns="0" rIns="0" tIns="0" bIns="0" anchor="t">
            <a:spAutoFit/>
          </a:bodyPr>
          <a:lstStyle/>
          <a:p>
            <a:pPr algn="l"/>
            <a:r>
              <a:rPr sz="1300" b="1" i="0">
                <a:solidFill>
                  <a:srgbClr val="0A4E7A"/>
                </a:solidFill>
                <a:latin typeface="Calibri"/>
              </a:rPr>
              <a:t>Threshold violated</a:t>
            </a:r>
          </a:p>
        </p:txBody>
      </p:sp>
      <p:sp>
        <p:nvSpPr>
          <p:cNvPr id="19" name="TextBox 18"/>
          <p:cNvSpPr txBox="1"/>
          <p:nvPr/>
        </p:nvSpPr>
        <p:spPr>
          <a:xfrm>
            <a:off x="6172200" y="2624328"/>
            <a:ext cx="5577840" cy="640080"/>
          </a:xfrm>
          <a:prstGeom prst="rect">
            <a:avLst/>
          </a:prstGeom>
          <a:noFill/>
        </p:spPr>
        <p:txBody>
          <a:bodyPr wrap="square" lIns="0" rIns="0" tIns="0" bIns="0" anchor="t">
            <a:spAutoFit/>
          </a:bodyPr>
          <a:lstStyle/>
          <a:p>
            <a:pPr algn="l"/>
            <a:r>
              <a:rPr sz="1150" b="0" i="0">
                <a:solidFill>
                  <a:srgbClr val="1A1E2A"/>
                </a:solidFill>
                <a:latin typeface="Calibri"/>
              </a:rPr>
              <a:t>Pikuliak et al. (2023) only report monolingual results for languages with &gt; 100 pairs. Four posts cannot support a 95% confidence interval.</a:t>
            </a:r>
          </a:p>
        </p:txBody>
      </p:sp>
      <p:sp>
        <p:nvSpPr>
          <p:cNvPr id="20" name="Rectangle 19"/>
          <p:cNvSpPr/>
          <p:nvPr/>
        </p:nvSpPr>
        <p:spPr>
          <a:xfrm>
            <a:off x="5989320" y="3291840"/>
            <a:ext cx="73152" cy="86868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291840"/>
            <a:ext cx="5577840" cy="365760"/>
          </a:xfrm>
          <a:prstGeom prst="rect">
            <a:avLst/>
          </a:prstGeom>
          <a:noFill/>
        </p:spPr>
        <p:txBody>
          <a:bodyPr wrap="square" lIns="0" rIns="0" tIns="0" bIns="0" anchor="t">
            <a:spAutoFit/>
          </a:bodyPr>
          <a:lstStyle/>
          <a:p>
            <a:pPr algn="l"/>
            <a:r>
              <a:rPr sz="1300" b="1" i="0">
                <a:solidFill>
                  <a:srgbClr val="0A4E7A"/>
                </a:solidFill>
                <a:latin typeface="Calibri"/>
              </a:rPr>
              <a:t>Asymmetric coverage</a:t>
            </a:r>
          </a:p>
        </p:txBody>
      </p:sp>
      <p:sp>
        <p:nvSpPr>
          <p:cNvPr id="22" name="TextBox 21"/>
          <p:cNvSpPr txBox="1"/>
          <p:nvPr/>
        </p:nvSpPr>
        <p:spPr>
          <a:xfrm>
            <a:off x="6172200" y="3584448"/>
            <a:ext cx="5577840" cy="640080"/>
          </a:xfrm>
          <a:prstGeom prst="rect">
            <a:avLst/>
          </a:prstGeom>
          <a:noFill/>
        </p:spPr>
        <p:txBody>
          <a:bodyPr wrap="square" lIns="0" rIns="0" tIns="0" bIns="0" anchor="t">
            <a:spAutoFit/>
          </a:bodyPr>
          <a:lstStyle/>
          <a:p>
            <a:pPr algn="l"/>
            <a:r>
              <a:rPr sz="1150" b="0" i="0">
                <a:solidFill>
                  <a:srgbClr val="1A1E2A"/>
                </a:solidFill>
                <a:latin typeface="Calibri"/>
              </a:rPr>
              <a:t>Fact-checks exist (1,206), so the retrieval index is fine. The shortage is on the query side — we have almost no Malayalam posts to query with.</a:t>
            </a:r>
          </a:p>
        </p:txBody>
      </p:sp>
      <p:sp>
        <p:nvSpPr>
          <p:cNvPr id="23" name="Rectangle 22"/>
          <p:cNvSpPr/>
          <p:nvPr/>
        </p:nvSpPr>
        <p:spPr>
          <a:xfrm>
            <a:off x="5989320" y="4251960"/>
            <a:ext cx="73152" cy="86868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4251960"/>
            <a:ext cx="5577840" cy="365760"/>
          </a:xfrm>
          <a:prstGeom prst="rect">
            <a:avLst/>
          </a:prstGeom>
          <a:noFill/>
        </p:spPr>
        <p:txBody>
          <a:bodyPr wrap="square" lIns="0" rIns="0" tIns="0" bIns="0" anchor="t">
            <a:spAutoFit/>
          </a:bodyPr>
          <a:lstStyle/>
          <a:p>
            <a:pPr algn="l"/>
            <a:r>
              <a:rPr sz="1300" b="1" i="0">
                <a:solidFill>
                  <a:srgbClr val="0A4E7A"/>
                </a:solidFill>
                <a:latin typeface="Calibri"/>
              </a:rPr>
              <a:t>Workaround: cross-lingual only</a:t>
            </a:r>
          </a:p>
        </p:txBody>
      </p:sp>
      <p:sp>
        <p:nvSpPr>
          <p:cNvPr id="25" name="TextBox 24"/>
          <p:cNvSpPr txBox="1"/>
          <p:nvPr/>
        </p:nvSpPr>
        <p:spPr>
          <a:xfrm>
            <a:off x="6172200" y="4544568"/>
            <a:ext cx="5577840" cy="640080"/>
          </a:xfrm>
          <a:prstGeom prst="rect">
            <a:avLst/>
          </a:prstGeom>
          <a:noFill/>
        </p:spPr>
        <p:txBody>
          <a:bodyPr wrap="square" lIns="0" rIns="0" tIns="0" bIns="0" anchor="t">
            <a:spAutoFit/>
          </a:bodyPr>
          <a:lstStyle/>
          <a:p>
            <a:pPr algn="l"/>
            <a:r>
              <a:rPr sz="1150" b="0" i="0">
                <a:solidFill>
                  <a:srgbClr val="1A1E2A"/>
                </a:solidFill>
                <a:latin typeface="Calibri"/>
              </a:rPr>
              <a:t>We run eng → mal pairs: English social-media posts retrieving Malayalam fact-checks. Still informative for tokenizer stress.</a:t>
            </a:r>
          </a:p>
        </p:txBody>
      </p:sp>
      <p:sp>
        <p:nvSpPr>
          <p:cNvPr id="26" name="Rectangle 25"/>
          <p:cNvSpPr/>
          <p:nvPr/>
        </p:nvSpPr>
        <p:spPr>
          <a:xfrm>
            <a:off x="5989320" y="5212080"/>
            <a:ext cx="73152" cy="86868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5212080"/>
            <a:ext cx="5577840" cy="365760"/>
          </a:xfrm>
          <a:prstGeom prst="rect">
            <a:avLst/>
          </a:prstGeom>
          <a:noFill/>
        </p:spPr>
        <p:txBody>
          <a:bodyPr wrap="square" lIns="0" rIns="0" tIns="0" bIns="0" anchor="t">
            <a:spAutoFit/>
          </a:bodyPr>
          <a:lstStyle/>
          <a:p>
            <a:pPr algn="l"/>
            <a:r>
              <a:rPr sz="1300" b="1" i="0">
                <a:solidFill>
                  <a:srgbClr val="0A4E7A"/>
                </a:solidFill>
                <a:latin typeface="Calibri"/>
              </a:rPr>
              <a:t>Honest scope statement</a:t>
            </a:r>
          </a:p>
        </p:txBody>
      </p:sp>
      <p:sp>
        <p:nvSpPr>
          <p:cNvPr id="28" name="TextBox 27"/>
          <p:cNvSpPr txBox="1"/>
          <p:nvPr/>
        </p:nvSpPr>
        <p:spPr>
          <a:xfrm>
            <a:off x="6172200" y="5504688"/>
            <a:ext cx="5577840" cy="640080"/>
          </a:xfrm>
          <a:prstGeom prst="rect">
            <a:avLst/>
          </a:prstGeom>
          <a:noFill/>
        </p:spPr>
        <p:txBody>
          <a:bodyPr wrap="square" lIns="0" rIns="0" tIns="0" bIns="0" anchor="t">
            <a:spAutoFit/>
          </a:bodyPr>
          <a:lstStyle/>
          <a:p>
            <a:pPr algn="l"/>
            <a:r>
              <a:rPr sz="1150" b="0" i="0">
                <a:solidFill>
                  <a:srgbClr val="1A1E2A"/>
                </a:solidFill>
                <a:latin typeface="Calibri"/>
              </a:rPr>
              <a:t>Malayalam in our paper is a typological probe, not a full-coverage evaluation. We state this explicitly in §Limitations.</a:t>
            </a:r>
          </a:p>
        </p:txBody>
      </p:sp>
      <p:sp>
        <p:nvSpPr>
          <p:cNvPr id="29" name="TextBox 2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30" name="TextBox 2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1</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Germanic — the safety net</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Languages we test</a:t>
            </a:r>
          </a:p>
        </p:txBody>
      </p:sp>
      <p:sp>
        <p:nvSpPr>
          <p:cNvPr id="8" name="Rectangle 7"/>
          <p:cNvSpPr/>
          <p:nvPr/>
        </p:nvSpPr>
        <p:spPr>
          <a:xfrm>
            <a:off x="502920" y="2103120"/>
            <a:ext cx="5486400" cy="914400"/>
          </a:xfrm>
          <a:prstGeom prst="rect">
            <a:avLst/>
          </a:prstGeom>
          <a:solidFill>
            <a:srgbClr val="ECF2F7"/>
          </a:solidFill>
          <a:ln w="1905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164592" cy="9144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76272"/>
            <a:ext cx="2286000" cy="411480"/>
          </a:xfrm>
          <a:prstGeom prst="rect">
            <a:avLst/>
          </a:prstGeom>
          <a:noFill/>
        </p:spPr>
        <p:txBody>
          <a:bodyPr wrap="square" lIns="0" rIns="0" tIns="0" bIns="0" anchor="t">
            <a:spAutoFit/>
          </a:bodyPr>
          <a:lstStyle/>
          <a:p>
            <a:pPr algn="l"/>
            <a:r>
              <a:rPr sz="1800" b="1" i="0">
                <a:solidFill>
                  <a:srgbClr val="141E46"/>
                </a:solidFill>
                <a:latin typeface="Calibri"/>
              </a:rPr>
              <a:t>English</a:t>
            </a:r>
          </a:p>
        </p:txBody>
      </p:sp>
      <p:sp>
        <p:nvSpPr>
          <p:cNvPr id="11" name="TextBox 10"/>
          <p:cNvSpPr txBox="1"/>
          <p:nvPr/>
        </p:nvSpPr>
        <p:spPr>
          <a:xfrm>
            <a:off x="777240" y="2560320"/>
            <a:ext cx="2286000" cy="365760"/>
          </a:xfrm>
          <a:prstGeom prst="rect">
            <a:avLst/>
          </a:prstGeom>
          <a:noFill/>
        </p:spPr>
        <p:txBody>
          <a:bodyPr wrap="square" lIns="0" rIns="0" tIns="0" bIns="0" anchor="t">
            <a:spAutoFit/>
          </a:bodyPr>
          <a:lstStyle/>
          <a:p>
            <a:pPr algn="l"/>
            <a:r>
              <a:rPr sz="1100" b="0" i="1">
                <a:solidFill>
                  <a:srgbClr val="606A78"/>
                </a:solidFill>
                <a:latin typeface="Calibri"/>
              </a:rPr>
              <a:t>ISO  eng</a:t>
            </a:r>
          </a:p>
        </p:txBody>
      </p:sp>
      <p:sp>
        <p:nvSpPr>
          <p:cNvPr id="12" name="TextBox 11"/>
          <p:cNvSpPr txBox="1"/>
          <p:nvPr/>
        </p:nvSpPr>
        <p:spPr>
          <a:xfrm>
            <a:off x="3108960" y="2331720"/>
            <a:ext cx="3108960" cy="548640"/>
          </a:xfrm>
          <a:prstGeom prst="rect">
            <a:avLst/>
          </a:prstGeom>
          <a:noFill/>
        </p:spPr>
        <p:txBody>
          <a:bodyPr wrap="square" lIns="0" rIns="0" tIns="0" bIns="0" anchor="t">
            <a:spAutoFit/>
          </a:bodyPr>
          <a:lstStyle/>
          <a:p>
            <a:pPr algn="l"/>
            <a:r>
              <a:rPr sz="1200" b="0" i="0">
                <a:solidFill>
                  <a:srgbClr val="1A1E2A"/>
                </a:solidFill>
                <a:latin typeface="Calibri"/>
              </a:rPr>
              <a:t>Champion — the model's home turf</a:t>
            </a:r>
          </a:p>
        </p:txBody>
      </p:sp>
      <p:sp>
        <p:nvSpPr>
          <p:cNvPr id="13" name="Rectangle 12"/>
          <p:cNvSpPr/>
          <p:nvPr/>
        </p:nvSpPr>
        <p:spPr>
          <a:xfrm>
            <a:off x="502920" y="3108960"/>
            <a:ext cx="5486400" cy="914400"/>
          </a:xfrm>
          <a:prstGeom prst="rect">
            <a:avLst/>
          </a:prstGeom>
          <a:solidFill>
            <a:srgbClr val="ECF2F7"/>
          </a:solidFill>
          <a:ln w="1905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08960"/>
            <a:ext cx="164592" cy="9144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182112"/>
            <a:ext cx="2286000" cy="411480"/>
          </a:xfrm>
          <a:prstGeom prst="rect">
            <a:avLst/>
          </a:prstGeom>
          <a:noFill/>
        </p:spPr>
        <p:txBody>
          <a:bodyPr wrap="square" lIns="0" rIns="0" tIns="0" bIns="0" anchor="t">
            <a:spAutoFit/>
          </a:bodyPr>
          <a:lstStyle/>
          <a:p>
            <a:pPr algn="l"/>
            <a:r>
              <a:rPr sz="1800" b="1" i="0">
                <a:solidFill>
                  <a:srgbClr val="141E46"/>
                </a:solidFill>
                <a:latin typeface="Calibri"/>
              </a:rPr>
              <a:t>German</a:t>
            </a:r>
          </a:p>
        </p:txBody>
      </p:sp>
      <p:sp>
        <p:nvSpPr>
          <p:cNvPr id="16" name="TextBox 15"/>
          <p:cNvSpPr txBox="1"/>
          <p:nvPr/>
        </p:nvSpPr>
        <p:spPr>
          <a:xfrm>
            <a:off x="777240" y="3566160"/>
            <a:ext cx="2286000" cy="365760"/>
          </a:xfrm>
          <a:prstGeom prst="rect">
            <a:avLst/>
          </a:prstGeom>
          <a:noFill/>
        </p:spPr>
        <p:txBody>
          <a:bodyPr wrap="square" lIns="0" rIns="0" tIns="0" bIns="0" anchor="t">
            <a:spAutoFit/>
          </a:bodyPr>
          <a:lstStyle/>
          <a:p>
            <a:pPr algn="l"/>
            <a:r>
              <a:rPr sz="1100" b="0" i="1">
                <a:solidFill>
                  <a:srgbClr val="606A78"/>
                </a:solidFill>
                <a:latin typeface="Calibri"/>
              </a:rPr>
              <a:t>ISO  deu</a:t>
            </a:r>
          </a:p>
        </p:txBody>
      </p:sp>
      <p:sp>
        <p:nvSpPr>
          <p:cNvPr id="17" name="TextBox 16"/>
          <p:cNvSpPr txBox="1"/>
          <p:nvPr/>
        </p:nvSpPr>
        <p:spPr>
          <a:xfrm>
            <a:off x="3108960" y="3337560"/>
            <a:ext cx="3108960" cy="548640"/>
          </a:xfrm>
          <a:prstGeom prst="rect">
            <a:avLst/>
          </a:prstGeom>
          <a:noFill/>
        </p:spPr>
        <p:txBody>
          <a:bodyPr wrap="square" lIns="0" rIns="0" tIns="0" bIns="0" anchor="t">
            <a:spAutoFit/>
          </a:bodyPr>
          <a:lstStyle/>
          <a:p>
            <a:pPr algn="l"/>
            <a:r>
              <a:rPr sz="1200" b="0" i="0">
                <a:solidFill>
                  <a:srgbClr val="1A1E2A"/>
                </a:solidFill>
                <a:latin typeface="Calibri"/>
              </a:rPr>
              <a:t>Comparison — same family, richer endings</a:t>
            </a:r>
          </a:p>
        </p:txBody>
      </p:sp>
      <p:sp>
        <p:nvSpPr>
          <p:cNvPr id="18" name="TextBox 17"/>
          <p:cNvSpPr txBox="1"/>
          <p:nvPr/>
        </p:nvSpPr>
        <p:spPr>
          <a:xfrm>
            <a:off x="64465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Why these languages</a:t>
            </a:r>
          </a:p>
        </p:txBody>
      </p:sp>
      <p:sp>
        <p:nvSpPr>
          <p:cNvPr id="19" name="TextBox 18"/>
          <p:cNvSpPr txBox="1"/>
          <p:nvPr/>
        </p:nvSpPr>
        <p:spPr>
          <a:xfrm>
            <a:off x="6446520" y="2103120"/>
            <a:ext cx="5440680" cy="2468880"/>
          </a:xfrm>
          <a:prstGeom prst="rect">
            <a:avLst/>
          </a:prstGeom>
          <a:noFill/>
        </p:spPr>
        <p:txBody>
          <a:bodyPr wrap="square" lIns="0" rIns="0" tIns="0" bIns="0" anchor="t">
            <a:spAutoFit/>
          </a:bodyPr>
          <a:lstStyle/>
          <a:p>
            <a:pPr algn="l">
              <a:spcBef>
                <a:spcPts val="0"/>
              </a:spcBef>
              <a:spcAft>
                <a:spcPts val="1000"/>
              </a:spcAft>
            </a:pPr>
            <a:r>
              <a:rPr sz="1300" b="0" i="0">
                <a:solidFill>
                  <a:srgbClr val="1A1E2A"/>
                </a:solidFill>
                <a:latin typeface="Calibri"/>
              </a:rPr>
              <a:t/>
            </a:r>
            <a:r>
              <a:rPr sz="1300" b="1">
                <a:solidFill>
                  <a:srgbClr val="0A4E7A"/>
                </a:solidFill>
                <a:latin typeface="Calibri"/>
              </a:rPr>
              <a:t>•  </a:t>
            </a:r>
            <a:r>
              <a:rPr sz="1300">
                <a:solidFill>
                  <a:srgbClr val="1A1E2A"/>
                </a:solidFill>
                <a:latin typeface="Calibri"/>
              </a:rPr>
              <a:t>Both written in the Latin alphabet — the script every multilingual embedding model was trained on.</a:t>
            </a:r>
          </a:p>
          <a:p>
            <a:pPr algn="l">
              <a:spcBef>
                <a:spcPts val="0"/>
              </a:spcBef>
              <a:spcAft>
                <a:spcPts val="1000"/>
              </a:spcAft>
            </a:pPr>
            <a:r>
              <a:rPr sz="1300" b="1">
                <a:solidFill>
                  <a:srgbClr val="0A4E7A"/>
                </a:solidFill>
                <a:latin typeface="Calibri"/>
              </a:rPr>
              <a:t>•  </a:t>
            </a:r>
            <a:r>
              <a:rPr sz="1300">
                <a:solidFill>
                  <a:srgbClr val="1A1E2A"/>
                </a:solidFill>
                <a:latin typeface="Calibri"/>
              </a:rPr>
              <a:t>English dominates the training data; German has more grammatical case marking and compound words.</a:t>
            </a:r>
          </a:p>
          <a:p>
            <a:pPr algn="l">
              <a:spcBef>
                <a:spcPts val="0"/>
              </a:spcBef>
              <a:spcAft>
                <a:spcPts val="1000"/>
              </a:spcAft>
            </a:pPr>
            <a:r>
              <a:rPr sz="1300" b="1">
                <a:solidFill>
                  <a:srgbClr val="0A4E7A"/>
                </a:solidFill>
                <a:latin typeface="Calibri"/>
              </a:rPr>
              <a:t>•  </a:t>
            </a:r>
            <a:r>
              <a:rPr sz="1300">
                <a:solidFill>
                  <a:srgbClr val="1A1E2A"/>
                </a:solidFill>
                <a:latin typeface="Calibri"/>
              </a:rPr>
              <a:t>Tight family relationship, so we expect the model to handle them similarly.</a:t>
            </a:r>
          </a:p>
        </p:txBody>
      </p:sp>
      <p:sp>
        <p:nvSpPr>
          <p:cNvPr id="20" name="TextBox 19"/>
          <p:cNvSpPr txBox="1"/>
          <p:nvPr/>
        </p:nvSpPr>
        <p:spPr>
          <a:xfrm>
            <a:off x="6446520" y="4754880"/>
            <a:ext cx="5486400" cy="365760"/>
          </a:xfrm>
          <a:prstGeom prst="rect">
            <a:avLst/>
          </a:prstGeom>
          <a:noFill/>
        </p:spPr>
        <p:txBody>
          <a:bodyPr wrap="square" lIns="0" rIns="0" tIns="0" bIns="0" anchor="t">
            <a:spAutoFit/>
          </a:bodyPr>
          <a:lstStyle/>
          <a:p>
            <a:pPr algn="l"/>
            <a:r>
              <a:rPr sz="1400" b="1" i="0">
                <a:solidFill>
                  <a:srgbClr val="141E46"/>
                </a:solidFill>
                <a:latin typeface="Calibri"/>
              </a:rPr>
              <a:t>Hypothesis we are testing</a:t>
            </a:r>
          </a:p>
        </p:txBody>
      </p:sp>
      <p:sp>
        <p:nvSpPr>
          <p:cNvPr id="21" name="Rectangle 20"/>
          <p:cNvSpPr/>
          <p:nvPr/>
        </p:nvSpPr>
        <p:spPr>
          <a:xfrm>
            <a:off x="6446520" y="5166360"/>
            <a:ext cx="5440680" cy="114300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5166360"/>
            <a:ext cx="109728" cy="11430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5257800"/>
            <a:ext cx="5166360" cy="1005840"/>
          </a:xfrm>
          <a:prstGeom prst="rect">
            <a:avLst/>
          </a:prstGeom>
          <a:noFill/>
        </p:spPr>
        <p:txBody>
          <a:bodyPr wrap="square" lIns="0" rIns="0" tIns="0" bIns="0" anchor="t">
            <a:spAutoFit/>
          </a:bodyPr>
          <a:lstStyle/>
          <a:p>
            <a:pPr algn="l"/>
            <a:r>
              <a:rPr sz="1250" b="0" i="1">
                <a:solidFill>
                  <a:srgbClr val="1A1E2A"/>
                </a:solidFill>
                <a:latin typeface="Calibri"/>
              </a:rPr>
              <a:t>If a model already wobbles inside one family, every other cluster will look worse. This cluster sets the floor for the entire experiment.</a:t>
            </a:r>
          </a:p>
        </p:txBody>
      </p:sp>
      <p:sp>
        <p:nvSpPr>
          <p:cNvPr id="24" name="TextBox 23"/>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5" name="TextBox 24"/>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1 — SOURCES</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Two papers that anchor the Germanic cluster</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830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965960"/>
            <a:ext cx="640080" cy="640080"/>
          </a:xfrm>
          <a:prstGeom prst="ellipse">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29968"/>
            <a:ext cx="640080" cy="548640"/>
          </a:xfrm>
          <a:prstGeom prst="rect">
            <a:avLst/>
          </a:prstGeom>
          <a:noFill/>
        </p:spPr>
        <p:txBody>
          <a:bodyPr wrap="square" lIns="0" rIns="0" tIns="0" bIns="0" anchor="t">
            <a:spAutoFit/>
          </a:bodyPr>
          <a:lstStyle/>
          <a:p>
            <a:pPr algn="ctr"/>
            <a:r>
              <a:rPr sz="2200" b="1" i="0">
                <a:solidFill>
                  <a:srgbClr val="FFFFFF"/>
                </a:solidFill>
                <a:latin typeface="Calibri"/>
              </a:rPr>
              <a:t>1</a:t>
            </a:r>
          </a:p>
        </p:txBody>
      </p:sp>
      <p:sp>
        <p:nvSpPr>
          <p:cNvPr id="10" name="TextBox 9"/>
          <p:cNvSpPr txBox="1"/>
          <p:nvPr/>
        </p:nvSpPr>
        <p:spPr>
          <a:xfrm>
            <a:off x="1463040" y="1947672"/>
            <a:ext cx="10149840" cy="594360"/>
          </a:xfrm>
          <a:prstGeom prst="rect">
            <a:avLst/>
          </a:prstGeom>
          <a:noFill/>
        </p:spPr>
        <p:txBody>
          <a:bodyPr wrap="square" lIns="0" rIns="0" tIns="0" bIns="0" anchor="t">
            <a:spAutoFit/>
          </a:bodyPr>
          <a:lstStyle/>
          <a:p>
            <a:pPr algn="l"/>
            <a:r>
              <a:rPr sz="1350" b="1" i="0">
                <a:solidFill>
                  <a:srgbClr val="141E46"/>
                </a:solidFill>
                <a:latin typeface="Calibri"/>
              </a:rPr>
              <a:t>Olander, T. (ed.) (2022). The Indo-European Language Family — Cambridge University Press.</a:t>
            </a:r>
          </a:p>
        </p:txBody>
      </p:sp>
      <p:sp>
        <p:nvSpPr>
          <p:cNvPr id="11" name="TextBox 10"/>
          <p:cNvSpPr txBox="1"/>
          <p:nvPr/>
        </p:nvSpPr>
        <p:spPr>
          <a:xfrm>
            <a:off x="1463040" y="2560320"/>
            <a:ext cx="10149840" cy="365760"/>
          </a:xfrm>
          <a:prstGeom prst="rect">
            <a:avLst/>
          </a:prstGeom>
          <a:noFill/>
        </p:spPr>
        <p:txBody>
          <a:bodyPr wrap="square" lIns="0" rIns="0" tIns="0" bIns="0" anchor="t">
            <a:spAutoFit/>
          </a:bodyPr>
          <a:lstStyle/>
          <a:p>
            <a:pPr algn="l"/>
            <a:r>
              <a:rPr sz="1100" b="1" i="0">
                <a:solidFill>
                  <a:srgbClr val="0A4E7A"/>
                </a:solidFill>
                <a:latin typeface="Calibri"/>
              </a:rPr>
              <a:t>Why this source backs the cluster</a:t>
            </a:r>
          </a:p>
        </p:txBody>
      </p:sp>
      <p:sp>
        <p:nvSpPr>
          <p:cNvPr id="12" name="TextBox 11"/>
          <p:cNvSpPr txBox="1"/>
          <p:nvPr/>
        </p:nvSpPr>
        <p:spPr>
          <a:xfrm>
            <a:off x="1463040" y="28803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0A4E7A"/>
                </a:solidFill>
                <a:latin typeface="Calibri"/>
              </a:rPr>
              <a:t>•  </a:t>
            </a:r>
            <a:r>
              <a:rPr sz="1200">
                <a:solidFill>
                  <a:srgbClr val="1A1E2A"/>
                </a:solidFill>
                <a:latin typeface="Calibri"/>
              </a:rPr>
              <a:t>Standard textbook reference for how Indo-European languages are related.</a:t>
            </a:r>
          </a:p>
          <a:p>
            <a:pPr algn="l">
              <a:spcBef>
                <a:spcPts val="0"/>
              </a:spcBef>
              <a:spcAft>
                <a:spcPts val="400"/>
              </a:spcAft>
            </a:pPr>
            <a:r>
              <a:rPr sz="1200" b="1">
                <a:solidFill>
                  <a:srgbClr val="0A4E7A"/>
                </a:solidFill>
                <a:latin typeface="Calibri"/>
              </a:rPr>
              <a:t>•  </a:t>
            </a:r>
            <a:r>
              <a:rPr sz="1200">
                <a:solidFill>
                  <a:srgbClr val="1A1E2A"/>
                </a:solidFill>
                <a:latin typeface="Calibri"/>
              </a:rPr>
              <a:t>Explicitly places English and German on the same Germanic branch.</a:t>
            </a:r>
          </a:p>
          <a:p>
            <a:pPr algn="l">
              <a:spcBef>
                <a:spcPts val="0"/>
              </a:spcBef>
              <a:spcAft>
                <a:spcPts val="400"/>
              </a:spcAft>
            </a:pPr>
            <a:r>
              <a:rPr sz="1200" b="1">
                <a:solidFill>
                  <a:srgbClr val="0A4E7A"/>
                </a:solidFill>
                <a:latin typeface="Calibri"/>
              </a:rPr>
              <a:t>•  </a:t>
            </a:r>
            <a:r>
              <a:rPr sz="1200">
                <a:solidFill>
                  <a:srgbClr val="1A1E2A"/>
                </a:solidFill>
                <a:latin typeface="Calibri"/>
              </a:rPr>
              <a:t>Citing it is the cheapest possible way to defend our cluster boundary.</a:t>
            </a:r>
          </a:p>
        </p:txBody>
      </p:sp>
      <p:sp>
        <p:nvSpPr>
          <p:cNvPr id="13" name="Rectangle 12"/>
          <p:cNvSpPr/>
          <p:nvPr/>
        </p:nvSpPr>
        <p:spPr>
          <a:xfrm>
            <a:off x="502920" y="38404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023360"/>
            <a:ext cx="640080" cy="640080"/>
          </a:xfrm>
          <a:prstGeom prst="ellipse">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87368"/>
            <a:ext cx="640080" cy="548640"/>
          </a:xfrm>
          <a:prstGeom prst="rect">
            <a:avLst/>
          </a:prstGeom>
          <a:noFill/>
        </p:spPr>
        <p:txBody>
          <a:bodyPr wrap="square" lIns="0" rIns="0" tIns="0" bIns="0" anchor="t">
            <a:spAutoFit/>
          </a:bodyPr>
          <a:lstStyle/>
          <a:p>
            <a:pPr algn="ctr"/>
            <a:r>
              <a:rPr sz="2200" b="1" i="0">
                <a:solidFill>
                  <a:srgbClr val="FFFFFF"/>
                </a:solidFill>
                <a:latin typeface="Calibri"/>
              </a:rPr>
              <a:t>2</a:t>
            </a:r>
          </a:p>
        </p:txBody>
      </p:sp>
      <p:sp>
        <p:nvSpPr>
          <p:cNvPr id="16" name="TextBox 15"/>
          <p:cNvSpPr txBox="1"/>
          <p:nvPr/>
        </p:nvSpPr>
        <p:spPr>
          <a:xfrm>
            <a:off x="1463040" y="4005072"/>
            <a:ext cx="10149840" cy="594360"/>
          </a:xfrm>
          <a:prstGeom prst="rect">
            <a:avLst/>
          </a:prstGeom>
          <a:noFill/>
        </p:spPr>
        <p:txBody>
          <a:bodyPr wrap="square" lIns="0" rIns="0" tIns="0" bIns="0" anchor="t">
            <a:spAutoFit/>
          </a:bodyPr>
          <a:lstStyle/>
          <a:p>
            <a:pPr algn="l"/>
            <a:r>
              <a:rPr sz="1350" b="1" i="0">
                <a:solidFill>
                  <a:srgbClr val="141E46"/>
                </a:solidFill>
                <a:latin typeface="Calibri"/>
              </a:rPr>
              <a:t>Konovalov, Tutubalina &amp; Kostkina (2023). Analyzing Indo-European Language Similarities Using Document Vectors — Informatics 10(4):76.</a:t>
            </a:r>
          </a:p>
        </p:txBody>
      </p:sp>
      <p:sp>
        <p:nvSpPr>
          <p:cNvPr id="17" name="TextBox 16"/>
          <p:cNvSpPr txBox="1"/>
          <p:nvPr/>
        </p:nvSpPr>
        <p:spPr>
          <a:xfrm>
            <a:off x="1463040" y="4617720"/>
            <a:ext cx="10149840" cy="365760"/>
          </a:xfrm>
          <a:prstGeom prst="rect">
            <a:avLst/>
          </a:prstGeom>
          <a:noFill/>
        </p:spPr>
        <p:txBody>
          <a:bodyPr wrap="square" lIns="0" rIns="0" tIns="0" bIns="0" anchor="t">
            <a:spAutoFit/>
          </a:bodyPr>
          <a:lstStyle/>
          <a:p>
            <a:pPr algn="l"/>
            <a:r>
              <a:rPr sz="1100" b="1" i="0">
                <a:solidFill>
                  <a:srgbClr val="0A4E7A"/>
                </a:solidFill>
                <a:latin typeface="Calibri"/>
              </a:rPr>
              <a:t>Why this source backs the cluster</a:t>
            </a:r>
          </a:p>
        </p:txBody>
      </p:sp>
      <p:sp>
        <p:nvSpPr>
          <p:cNvPr id="18" name="TextBox 17"/>
          <p:cNvSpPr txBox="1"/>
          <p:nvPr/>
        </p:nvSpPr>
        <p:spPr>
          <a:xfrm>
            <a:off x="1463040" y="49377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0A4E7A"/>
                </a:solidFill>
                <a:latin typeface="Calibri"/>
              </a:rPr>
              <a:t>•  </a:t>
            </a:r>
            <a:r>
              <a:rPr sz="1200">
                <a:solidFill>
                  <a:srgbClr val="1A1E2A"/>
                </a:solidFill>
                <a:latin typeface="Calibri"/>
              </a:rPr>
              <a:t>Shows that embedding models confuse Germanic with Romance about half the time.</a:t>
            </a:r>
          </a:p>
          <a:p>
            <a:pPr algn="l">
              <a:spcBef>
                <a:spcPts val="0"/>
              </a:spcBef>
              <a:spcAft>
                <a:spcPts val="400"/>
              </a:spcAft>
            </a:pPr>
            <a:r>
              <a:rPr sz="1200" b="1">
                <a:solidFill>
                  <a:srgbClr val="0A4E7A"/>
                </a:solidFill>
                <a:latin typeface="Calibri"/>
              </a:rPr>
              <a:t>•  </a:t>
            </a:r>
            <a:r>
              <a:rPr sz="1200">
                <a:solidFill>
                  <a:srgbClr val="1A1E2A"/>
                </a:solidFill>
                <a:latin typeface="Calibri"/>
              </a:rPr>
              <a:t>Gives us a numerical baseline we can beat in our own experiments.</a:t>
            </a:r>
          </a:p>
          <a:p>
            <a:pPr algn="l">
              <a:spcBef>
                <a:spcPts val="0"/>
              </a:spcBef>
              <a:spcAft>
                <a:spcPts val="400"/>
              </a:spcAft>
            </a:pPr>
            <a:r>
              <a:rPr sz="1200" b="1">
                <a:solidFill>
                  <a:srgbClr val="0A4E7A"/>
                </a:solidFill>
                <a:latin typeface="Calibri"/>
              </a:rPr>
              <a:t>•  </a:t>
            </a:r>
            <a:r>
              <a:rPr sz="1200">
                <a:solidFill>
                  <a:srgbClr val="1A1E2A"/>
                </a:solidFill>
                <a:latin typeface="Calibri"/>
              </a:rPr>
              <a:t>Recent, peer-reviewed, open-access — easy for any reviewer to verify.</a:t>
            </a:r>
          </a:p>
        </p:txBody>
      </p:sp>
      <p:sp>
        <p:nvSpPr>
          <p:cNvPr id="19" name="TextBox 1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0" name="TextBox 1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2</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Romance — small jump, big stress on endings</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Languages we test</a:t>
            </a:r>
          </a:p>
        </p:txBody>
      </p:sp>
      <p:sp>
        <p:nvSpPr>
          <p:cNvPr id="8" name="Rectangle 7"/>
          <p:cNvSpPr/>
          <p:nvPr/>
        </p:nvSpPr>
        <p:spPr>
          <a:xfrm>
            <a:off x="502920" y="2103120"/>
            <a:ext cx="5486400" cy="914400"/>
          </a:xfrm>
          <a:prstGeom prst="rect">
            <a:avLst/>
          </a:prstGeom>
          <a:solidFill>
            <a:srgbClr val="ECF2F7"/>
          </a:solidFill>
          <a:ln w="19050">
            <a:solidFill>
              <a:srgbClr val="1F7A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164592" cy="91440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76272"/>
            <a:ext cx="2286000" cy="411480"/>
          </a:xfrm>
          <a:prstGeom prst="rect">
            <a:avLst/>
          </a:prstGeom>
          <a:noFill/>
        </p:spPr>
        <p:txBody>
          <a:bodyPr wrap="square" lIns="0" rIns="0" tIns="0" bIns="0" anchor="t">
            <a:spAutoFit/>
          </a:bodyPr>
          <a:lstStyle/>
          <a:p>
            <a:pPr algn="l"/>
            <a:r>
              <a:rPr sz="1800" b="1" i="0">
                <a:solidFill>
                  <a:srgbClr val="141E46"/>
                </a:solidFill>
                <a:latin typeface="Calibri"/>
              </a:rPr>
              <a:t>Spanish</a:t>
            </a:r>
          </a:p>
        </p:txBody>
      </p:sp>
      <p:sp>
        <p:nvSpPr>
          <p:cNvPr id="11" name="TextBox 10"/>
          <p:cNvSpPr txBox="1"/>
          <p:nvPr/>
        </p:nvSpPr>
        <p:spPr>
          <a:xfrm>
            <a:off x="777240" y="2560320"/>
            <a:ext cx="2286000" cy="365760"/>
          </a:xfrm>
          <a:prstGeom prst="rect">
            <a:avLst/>
          </a:prstGeom>
          <a:noFill/>
        </p:spPr>
        <p:txBody>
          <a:bodyPr wrap="square" lIns="0" rIns="0" tIns="0" bIns="0" anchor="t">
            <a:spAutoFit/>
          </a:bodyPr>
          <a:lstStyle/>
          <a:p>
            <a:pPr algn="l"/>
            <a:r>
              <a:rPr sz="1100" b="0" i="1">
                <a:solidFill>
                  <a:srgbClr val="606A78"/>
                </a:solidFill>
                <a:latin typeface="Calibri"/>
              </a:rPr>
              <a:t>ISO  spa</a:t>
            </a:r>
          </a:p>
        </p:txBody>
      </p:sp>
      <p:sp>
        <p:nvSpPr>
          <p:cNvPr id="12" name="TextBox 11"/>
          <p:cNvSpPr txBox="1"/>
          <p:nvPr/>
        </p:nvSpPr>
        <p:spPr>
          <a:xfrm>
            <a:off x="3108960" y="2331720"/>
            <a:ext cx="3108960" cy="548640"/>
          </a:xfrm>
          <a:prstGeom prst="rect">
            <a:avLst/>
          </a:prstGeom>
          <a:noFill/>
        </p:spPr>
        <p:txBody>
          <a:bodyPr wrap="square" lIns="0" rIns="0" tIns="0" bIns="0" anchor="t">
            <a:spAutoFit/>
          </a:bodyPr>
          <a:lstStyle/>
          <a:p>
            <a:pPr algn="l"/>
            <a:r>
              <a:rPr sz="1200" b="0" i="0">
                <a:solidFill>
                  <a:srgbClr val="1A1E2A"/>
                </a:solidFill>
                <a:latin typeface="Calibri"/>
              </a:rPr>
              <a:t>Champion — strong data coverage</a:t>
            </a:r>
          </a:p>
        </p:txBody>
      </p:sp>
      <p:sp>
        <p:nvSpPr>
          <p:cNvPr id="13" name="Rectangle 12"/>
          <p:cNvSpPr/>
          <p:nvPr/>
        </p:nvSpPr>
        <p:spPr>
          <a:xfrm>
            <a:off x="502920" y="3108960"/>
            <a:ext cx="5486400" cy="914400"/>
          </a:xfrm>
          <a:prstGeom prst="rect">
            <a:avLst/>
          </a:prstGeom>
          <a:solidFill>
            <a:srgbClr val="ECF2F7"/>
          </a:solidFill>
          <a:ln w="19050">
            <a:solidFill>
              <a:srgbClr val="1F7A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08960"/>
            <a:ext cx="164592" cy="91440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182112"/>
            <a:ext cx="2286000" cy="411480"/>
          </a:xfrm>
          <a:prstGeom prst="rect">
            <a:avLst/>
          </a:prstGeom>
          <a:noFill/>
        </p:spPr>
        <p:txBody>
          <a:bodyPr wrap="square" lIns="0" rIns="0" tIns="0" bIns="0" anchor="t">
            <a:spAutoFit/>
          </a:bodyPr>
          <a:lstStyle/>
          <a:p>
            <a:pPr algn="l"/>
            <a:r>
              <a:rPr sz="1800" b="1" i="0">
                <a:solidFill>
                  <a:srgbClr val="141E46"/>
                </a:solidFill>
                <a:latin typeface="Calibri"/>
              </a:rPr>
              <a:t>French</a:t>
            </a:r>
          </a:p>
        </p:txBody>
      </p:sp>
      <p:sp>
        <p:nvSpPr>
          <p:cNvPr id="16" name="TextBox 15"/>
          <p:cNvSpPr txBox="1"/>
          <p:nvPr/>
        </p:nvSpPr>
        <p:spPr>
          <a:xfrm>
            <a:off x="777240" y="3566160"/>
            <a:ext cx="2286000" cy="365760"/>
          </a:xfrm>
          <a:prstGeom prst="rect">
            <a:avLst/>
          </a:prstGeom>
          <a:noFill/>
        </p:spPr>
        <p:txBody>
          <a:bodyPr wrap="square" lIns="0" rIns="0" tIns="0" bIns="0" anchor="t">
            <a:spAutoFit/>
          </a:bodyPr>
          <a:lstStyle/>
          <a:p>
            <a:pPr algn="l"/>
            <a:r>
              <a:rPr sz="1100" b="0" i="1">
                <a:solidFill>
                  <a:srgbClr val="606A78"/>
                </a:solidFill>
                <a:latin typeface="Calibri"/>
              </a:rPr>
              <a:t>ISO  fra</a:t>
            </a:r>
          </a:p>
        </p:txBody>
      </p:sp>
      <p:sp>
        <p:nvSpPr>
          <p:cNvPr id="17" name="TextBox 16"/>
          <p:cNvSpPr txBox="1"/>
          <p:nvPr/>
        </p:nvSpPr>
        <p:spPr>
          <a:xfrm>
            <a:off x="3108960" y="3337560"/>
            <a:ext cx="3108960" cy="548640"/>
          </a:xfrm>
          <a:prstGeom prst="rect">
            <a:avLst/>
          </a:prstGeom>
          <a:noFill/>
        </p:spPr>
        <p:txBody>
          <a:bodyPr wrap="square" lIns="0" rIns="0" tIns="0" bIns="0" anchor="t">
            <a:spAutoFit/>
          </a:bodyPr>
          <a:lstStyle/>
          <a:p>
            <a:pPr algn="l"/>
            <a:r>
              <a:rPr sz="1200" b="0" i="0">
                <a:solidFill>
                  <a:srgbClr val="1A1E2A"/>
                </a:solidFill>
                <a:latin typeface="Calibri"/>
              </a:rPr>
              <a:t>Comparison — richer verb morphology</a:t>
            </a:r>
          </a:p>
        </p:txBody>
      </p:sp>
      <p:sp>
        <p:nvSpPr>
          <p:cNvPr id="18" name="Rectangle 17"/>
          <p:cNvSpPr/>
          <p:nvPr/>
        </p:nvSpPr>
        <p:spPr>
          <a:xfrm>
            <a:off x="502920" y="4114800"/>
            <a:ext cx="5486400" cy="914400"/>
          </a:xfrm>
          <a:prstGeom prst="rect">
            <a:avLst/>
          </a:prstGeom>
          <a:solidFill>
            <a:srgbClr val="ECF2F7"/>
          </a:solidFill>
          <a:ln w="19050">
            <a:solidFill>
              <a:srgbClr val="1F7A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114800"/>
            <a:ext cx="164592" cy="91440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87952"/>
            <a:ext cx="2286000" cy="411480"/>
          </a:xfrm>
          <a:prstGeom prst="rect">
            <a:avLst/>
          </a:prstGeom>
          <a:noFill/>
        </p:spPr>
        <p:txBody>
          <a:bodyPr wrap="square" lIns="0" rIns="0" tIns="0" bIns="0" anchor="t">
            <a:spAutoFit/>
          </a:bodyPr>
          <a:lstStyle/>
          <a:p>
            <a:pPr algn="l"/>
            <a:r>
              <a:rPr sz="1800" b="1" i="0">
                <a:solidFill>
                  <a:srgbClr val="141E46"/>
                </a:solidFill>
                <a:latin typeface="Calibri"/>
              </a:rPr>
              <a:t>Italian</a:t>
            </a:r>
          </a:p>
        </p:txBody>
      </p:sp>
      <p:sp>
        <p:nvSpPr>
          <p:cNvPr id="21" name="TextBox 20"/>
          <p:cNvSpPr txBox="1"/>
          <p:nvPr/>
        </p:nvSpPr>
        <p:spPr>
          <a:xfrm>
            <a:off x="777240" y="4572000"/>
            <a:ext cx="2286000" cy="365760"/>
          </a:xfrm>
          <a:prstGeom prst="rect">
            <a:avLst/>
          </a:prstGeom>
          <a:noFill/>
        </p:spPr>
        <p:txBody>
          <a:bodyPr wrap="square" lIns="0" rIns="0" tIns="0" bIns="0" anchor="t">
            <a:spAutoFit/>
          </a:bodyPr>
          <a:lstStyle/>
          <a:p>
            <a:pPr algn="l"/>
            <a:r>
              <a:rPr sz="1100" b="0" i="1">
                <a:solidFill>
                  <a:srgbClr val="606A78"/>
                </a:solidFill>
                <a:latin typeface="Calibri"/>
              </a:rPr>
              <a:t>ISO  ita</a:t>
            </a:r>
          </a:p>
        </p:txBody>
      </p:sp>
      <p:sp>
        <p:nvSpPr>
          <p:cNvPr id="22" name="TextBox 21"/>
          <p:cNvSpPr txBox="1"/>
          <p:nvPr/>
        </p:nvSpPr>
        <p:spPr>
          <a:xfrm>
            <a:off x="3108960" y="4343400"/>
            <a:ext cx="3108960" cy="548640"/>
          </a:xfrm>
          <a:prstGeom prst="rect">
            <a:avLst/>
          </a:prstGeom>
          <a:noFill/>
        </p:spPr>
        <p:txBody>
          <a:bodyPr wrap="square" lIns="0" rIns="0" tIns="0" bIns="0" anchor="t">
            <a:spAutoFit/>
          </a:bodyPr>
          <a:lstStyle/>
          <a:p>
            <a:pPr algn="l"/>
            <a:r>
              <a:rPr sz="1200" b="0" i="0">
                <a:solidFill>
                  <a:srgbClr val="1A1E2A"/>
                </a:solidFill>
                <a:latin typeface="Calibri"/>
              </a:rPr>
              <a:t>Optional — keep if capacity allows</a:t>
            </a:r>
          </a:p>
        </p:txBody>
      </p:sp>
      <p:sp>
        <p:nvSpPr>
          <p:cNvPr id="23" name="TextBox 22"/>
          <p:cNvSpPr txBox="1"/>
          <p:nvPr/>
        </p:nvSpPr>
        <p:spPr>
          <a:xfrm>
            <a:off x="64465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Why these languages</a:t>
            </a:r>
          </a:p>
        </p:txBody>
      </p:sp>
      <p:sp>
        <p:nvSpPr>
          <p:cNvPr id="24" name="TextBox 23"/>
          <p:cNvSpPr txBox="1"/>
          <p:nvPr/>
        </p:nvSpPr>
        <p:spPr>
          <a:xfrm>
            <a:off x="6446520" y="2103120"/>
            <a:ext cx="5440680" cy="2468880"/>
          </a:xfrm>
          <a:prstGeom prst="rect">
            <a:avLst/>
          </a:prstGeom>
          <a:noFill/>
        </p:spPr>
        <p:txBody>
          <a:bodyPr wrap="square" lIns="0" rIns="0" tIns="0" bIns="0" anchor="t">
            <a:spAutoFit/>
          </a:bodyPr>
          <a:lstStyle/>
          <a:p>
            <a:pPr algn="l">
              <a:spcBef>
                <a:spcPts val="0"/>
              </a:spcBef>
              <a:spcAft>
                <a:spcPts val="1000"/>
              </a:spcAft>
            </a:pPr>
            <a:r>
              <a:rPr sz="1300" b="0" i="0">
                <a:solidFill>
                  <a:srgbClr val="1A1E2A"/>
                </a:solidFill>
                <a:latin typeface="Calibri"/>
              </a:rPr>
              <a:t/>
            </a:r>
            <a:r>
              <a:rPr sz="1300" b="1">
                <a:solidFill>
                  <a:srgbClr val="1F7A95"/>
                </a:solidFill>
                <a:latin typeface="Calibri"/>
              </a:rPr>
              <a:t>•  </a:t>
            </a:r>
            <a:r>
              <a:rPr sz="1300">
                <a:solidFill>
                  <a:srgbClr val="1A1E2A"/>
                </a:solidFill>
                <a:latin typeface="Calibri"/>
              </a:rPr>
              <a:t>All three use the Latin alphabet — small visual jump from English.</a:t>
            </a:r>
          </a:p>
          <a:p>
            <a:pPr algn="l">
              <a:spcBef>
                <a:spcPts val="0"/>
              </a:spcBef>
              <a:spcAft>
                <a:spcPts val="1000"/>
              </a:spcAft>
            </a:pPr>
            <a:r>
              <a:rPr sz="1300" b="1">
                <a:solidFill>
                  <a:srgbClr val="1F7A95"/>
                </a:solidFill>
                <a:latin typeface="Calibri"/>
              </a:rPr>
              <a:t>•  </a:t>
            </a:r>
            <a:r>
              <a:rPr sz="1300">
                <a:solidFill>
                  <a:srgbClr val="1A1E2A"/>
                </a:solidFill>
                <a:latin typeface="Calibri"/>
              </a:rPr>
              <a:t>Heavy use of grammatical gender and verb endings — "el doctor" vs. "la doctora".</a:t>
            </a:r>
          </a:p>
          <a:p>
            <a:pPr algn="l">
              <a:spcBef>
                <a:spcPts val="0"/>
              </a:spcBef>
              <a:spcAft>
                <a:spcPts val="1000"/>
              </a:spcAft>
            </a:pPr>
            <a:r>
              <a:rPr sz="1300" b="1">
                <a:solidFill>
                  <a:srgbClr val="1F7A95"/>
                </a:solidFill>
                <a:latin typeface="Calibri"/>
              </a:rPr>
              <a:t>•  </a:t>
            </a:r>
            <a:r>
              <a:rPr sz="1300">
                <a:solidFill>
                  <a:srgbClr val="1A1E2A"/>
                </a:solidFill>
                <a:latin typeface="Calibri"/>
              </a:rPr>
              <a:t>Tests whether models keep meaning intact when endings shift due to gender or tense.</a:t>
            </a:r>
          </a:p>
        </p:txBody>
      </p:sp>
      <p:sp>
        <p:nvSpPr>
          <p:cNvPr id="25" name="TextBox 24"/>
          <p:cNvSpPr txBox="1"/>
          <p:nvPr/>
        </p:nvSpPr>
        <p:spPr>
          <a:xfrm>
            <a:off x="6446520" y="4754880"/>
            <a:ext cx="5486400" cy="365760"/>
          </a:xfrm>
          <a:prstGeom prst="rect">
            <a:avLst/>
          </a:prstGeom>
          <a:noFill/>
        </p:spPr>
        <p:txBody>
          <a:bodyPr wrap="square" lIns="0" rIns="0" tIns="0" bIns="0" anchor="t">
            <a:spAutoFit/>
          </a:bodyPr>
          <a:lstStyle/>
          <a:p>
            <a:pPr algn="l"/>
            <a:r>
              <a:rPr sz="1400" b="1" i="0">
                <a:solidFill>
                  <a:srgbClr val="141E46"/>
                </a:solidFill>
                <a:latin typeface="Calibri"/>
              </a:rPr>
              <a:t>Hypothesis we are testing</a:t>
            </a:r>
          </a:p>
        </p:txBody>
      </p:sp>
      <p:sp>
        <p:nvSpPr>
          <p:cNvPr id="26" name="Rectangle 25"/>
          <p:cNvSpPr/>
          <p:nvPr/>
        </p:nvSpPr>
        <p:spPr>
          <a:xfrm>
            <a:off x="6446520" y="5166360"/>
            <a:ext cx="5440680" cy="114300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6520" y="5166360"/>
            <a:ext cx="109728" cy="114300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6832" y="5257800"/>
            <a:ext cx="5166360" cy="1005840"/>
          </a:xfrm>
          <a:prstGeom prst="rect">
            <a:avLst/>
          </a:prstGeom>
          <a:noFill/>
        </p:spPr>
        <p:txBody>
          <a:bodyPr wrap="square" lIns="0" rIns="0" tIns="0" bIns="0" anchor="t">
            <a:spAutoFit/>
          </a:bodyPr>
          <a:lstStyle/>
          <a:p>
            <a:pPr algn="l"/>
            <a:r>
              <a:rPr sz="1250" b="0" i="1">
                <a:solidFill>
                  <a:srgbClr val="1A1E2A"/>
                </a:solidFill>
                <a:latin typeface="Calibri"/>
              </a:rPr>
              <a:t>If a model handles Romance languages well, it has learned more than English-style word order. If it breaks here, we know morphology is a real weakness — not just script.</a:t>
            </a:r>
          </a:p>
        </p:txBody>
      </p:sp>
      <p:sp>
        <p:nvSpPr>
          <p:cNvPr id="29" name="TextBox 2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30" name="TextBox 2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2 — SOURCES</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Two papers that anchor the Romance cluster</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830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965960"/>
            <a:ext cx="640080" cy="640080"/>
          </a:xfrm>
          <a:prstGeom prst="ellipse">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29968"/>
            <a:ext cx="640080" cy="548640"/>
          </a:xfrm>
          <a:prstGeom prst="rect">
            <a:avLst/>
          </a:prstGeom>
          <a:noFill/>
        </p:spPr>
        <p:txBody>
          <a:bodyPr wrap="square" lIns="0" rIns="0" tIns="0" bIns="0" anchor="t">
            <a:spAutoFit/>
          </a:bodyPr>
          <a:lstStyle/>
          <a:p>
            <a:pPr algn="ctr"/>
            <a:r>
              <a:rPr sz="2200" b="1" i="0">
                <a:solidFill>
                  <a:srgbClr val="FFFFFF"/>
                </a:solidFill>
                <a:latin typeface="Calibri"/>
              </a:rPr>
              <a:t>1</a:t>
            </a:r>
          </a:p>
        </p:txBody>
      </p:sp>
      <p:sp>
        <p:nvSpPr>
          <p:cNvPr id="10" name="TextBox 9"/>
          <p:cNvSpPr txBox="1"/>
          <p:nvPr/>
        </p:nvSpPr>
        <p:spPr>
          <a:xfrm>
            <a:off x="1463040" y="1947672"/>
            <a:ext cx="10149840" cy="594360"/>
          </a:xfrm>
          <a:prstGeom prst="rect">
            <a:avLst/>
          </a:prstGeom>
          <a:noFill/>
        </p:spPr>
        <p:txBody>
          <a:bodyPr wrap="square" lIns="0" rIns="0" tIns="0" bIns="0" anchor="t">
            <a:spAutoFit/>
          </a:bodyPr>
          <a:lstStyle/>
          <a:p>
            <a:pPr algn="l"/>
            <a:r>
              <a:rPr sz="1350" b="1" i="0">
                <a:solidFill>
                  <a:srgbClr val="141E46"/>
                </a:solidFill>
                <a:latin typeface="Calibri"/>
              </a:rPr>
              <a:t>Pikuliak et al. (2023). Multilingual Previously Fact-Checked Claim Retrieval — EMNLP 2023.</a:t>
            </a:r>
          </a:p>
        </p:txBody>
      </p:sp>
      <p:sp>
        <p:nvSpPr>
          <p:cNvPr id="11" name="TextBox 10"/>
          <p:cNvSpPr txBox="1"/>
          <p:nvPr/>
        </p:nvSpPr>
        <p:spPr>
          <a:xfrm>
            <a:off x="1463040" y="2560320"/>
            <a:ext cx="10149840" cy="365760"/>
          </a:xfrm>
          <a:prstGeom prst="rect">
            <a:avLst/>
          </a:prstGeom>
          <a:noFill/>
        </p:spPr>
        <p:txBody>
          <a:bodyPr wrap="square" lIns="0" rIns="0" tIns="0" bIns="0" anchor="t">
            <a:spAutoFit/>
          </a:bodyPr>
          <a:lstStyle/>
          <a:p>
            <a:pPr algn="l"/>
            <a:r>
              <a:rPr sz="1100" b="1" i="0">
                <a:solidFill>
                  <a:srgbClr val="1F7A95"/>
                </a:solidFill>
                <a:latin typeface="Calibri"/>
              </a:rPr>
              <a:t>Why this source backs the cluster</a:t>
            </a:r>
          </a:p>
        </p:txBody>
      </p:sp>
      <p:sp>
        <p:nvSpPr>
          <p:cNvPr id="12" name="TextBox 11"/>
          <p:cNvSpPr txBox="1"/>
          <p:nvPr/>
        </p:nvSpPr>
        <p:spPr>
          <a:xfrm>
            <a:off x="1463040" y="28803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1F7A95"/>
                </a:solidFill>
                <a:latin typeface="Calibri"/>
              </a:rPr>
              <a:t>•  </a:t>
            </a:r>
            <a:r>
              <a:rPr sz="1200">
                <a:solidFill>
                  <a:srgbClr val="1A1E2A"/>
                </a:solidFill>
                <a:latin typeface="Calibri"/>
              </a:rPr>
              <a:t>The MultiClaim dataset paper itself.</a:t>
            </a:r>
          </a:p>
          <a:p>
            <a:pPr algn="l">
              <a:spcBef>
                <a:spcPts val="0"/>
              </a:spcBef>
              <a:spcAft>
                <a:spcPts val="400"/>
              </a:spcAft>
            </a:pPr>
            <a:r>
              <a:rPr sz="1200" b="1">
                <a:solidFill>
                  <a:srgbClr val="1F7A95"/>
                </a:solidFill>
                <a:latin typeface="Calibri"/>
              </a:rPr>
              <a:t>•  </a:t>
            </a:r>
            <a:r>
              <a:rPr sz="1200">
                <a:solidFill>
                  <a:srgbClr val="1A1E2A"/>
                </a:solidFill>
                <a:latin typeface="Calibri"/>
              </a:rPr>
              <a:t>Their Figure 1 confirms Spanish and Portuguese are the largest non-English pools.</a:t>
            </a:r>
          </a:p>
          <a:p>
            <a:pPr algn="l">
              <a:spcBef>
                <a:spcPts val="0"/>
              </a:spcBef>
              <a:spcAft>
                <a:spcPts val="400"/>
              </a:spcAft>
            </a:pPr>
            <a:r>
              <a:rPr sz="1200" b="1">
                <a:solidFill>
                  <a:srgbClr val="1F7A95"/>
                </a:solidFill>
                <a:latin typeface="Calibri"/>
              </a:rPr>
              <a:t>•  </a:t>
            </a:r>
            <a:r>
              <a:rPr sz="1200">
                <a:solidFill>
                  <a:srgbClr val="1A1E2A"/>
                </a:solidFill>
                <a:latin typeface="Calibri"/>
              </a:rPr>
              <a:t>Citing the dataset paper means our data choice and the dataset's design come from the same source.</a:t>
            </a:r>
          </a:p>
        </p:txBody>
      </p:sp>
      <p:sp>
        <p:nvSpPr>
          <p:cNvPr id="13" name="Rectangle 12"/>
          <p:cNvSpPr/>
          <p:nvPr/>
        </p:nvSpPr>
        <p:spPr>
          <a:xfrm>
            <a:off x="502920" y="38404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023360"/>
            <a:ext cx="640080" cy="640080"/>
          </a:xfrm>
          <a:prstGeom prst="ellipse">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87368"/>
            <a:ext cx="640080" cy="548640"/>
          </a:xfrm>
          <a:prstGeom prst="rect">
            <a:avLst/>
          </a:prstGeom>
          <a:noFill/>
        </p:spPr>
        <p:txBody>
          <a:bodyPr wrap="square" lIns="0" rIns="0" tIns="0" bIns="0" anchor="t">
            <a:spAutoFit/>
          </a:bodyPr>
          <a:lstStyle/>
          <a:p>
            <a:pPr algn="ctr"/>
            <a:r>
              <a:rPr sz="2200" b="1" i="0">
                <a:solidFill>
                  <a:srgbClr val="FFFFFF"/>
                </a:solidFill>
                <a:latin typeface="Calibri"/>
              </a:rPr>
              <a:t>2</a:t>
            </a:r>
          </a:p>
        </p:txBody>
      </p:sp>
      <p:sp>
        <p:nvSpPr>
          <p:cNvPr id="16" name="TextBox 15"/>
          <p:cNvSpPr txBox="1"/>
          <p:nvPr/>
        </p:nvSpPr>
        <p:spPr>
          <a:xfrm>
            <a:off x="1463040" y="4005072"/>
            <a:ext cx="10149840" cy="594360"/>
          </a:xfrm>
          <a:prstGeom prst="rect">
            <a:avLst/>
          </a:prstGeom>
          <a:noFill/>
        </p:spPr>
        <p:txBody>
          <a:bodyPr wrap="square" lIns="0" rIns="0" tIns="0" bIns="0" anchor="t">
            <a:spAutoFit/>
          </a:bodyPr>
          <a:lstStyle/>
          <a:p>
            <a:pPr algn="l"/>
            <a:r>
              <a:rPr sz="1350" b="1" i="0">
                <a:solidFill>
                  <a:srgbClr val="141E46"/>
                </a:solidFill>
                <a:latin typeface="Calibri"/>
              </a:rPr>
              <a:t>Konovalov et al. (2023). Indo-European Language Similarities via Document Vectors — Informatics 10(4):76.</a:t>
            </a:r>
          </a:p>
        </p:txBody>
      </p:sp>
      <p:sp>
        <p:nvSpPr>
          <p:cNvPr id="17" name="TextBox 16"/>
          <p:cNvSpPr txBox="1"/>
          <p:nvPr/>
        </p:nvSpPr>
        <p:spPr>
          <a:xfrm>
            <a:off x="1463040" y="4617720"/>
            <a:ext cx="10149840" cy="365760"/>
          </a:xfrm>
          <a:prstGeom prst="rect">
            <a:avLst/>
          </a:prstGeom>
          <a:noFill/>
        </p:spPr>
        <p:txBody>
          <a:bodyPr wrap="square" lIns="0" rIns="0" tIns="0" bIns="0" anchor="t">
            <a:spAutoFit/>
          </a:bodyPr>
          <a:lstStyle/>
          <a:p>
            <a:pPr algn="l"/>
            <a:r>
              <a:rPr sz="1100" b="1" i="0">
                <a:solidFill>
                  <a:srgbClr val="1F7A95"/>
                </a:solidFill>
                <a:latin typeface="Calibri"/>
              </a:rPr>
              <a:t>Why this source backs the cluster</a:t>
            </a:r>
          </a:p>
        </p:txBody>
      </p:sp>
      <p:sp>
        <p:nvSpPr>
          <p:cNvPr id="18" name="TextBox 17"/>
          <p:cNvSpPr txBox="1"/>
          <p:nvPr/>
        </p:nvSpPr>
        <p:spPr>
          <a:xfrm>
            <a:off x="1463040" y="49377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1F7A95"/>
                </a:solidFill>
                <a:latin typeface="Calibri"/>
              </a:rPr>
              <a:t>•  </a:t>
            </a:r>
            <a:r>
              <a:rPr sz="1200">
                <a:solidFill>
                  <a:srgbClr val="1A1E2A"/>
                </a:solidFill>
                <a:latin typeface="Calibri"/>
              </a:rPr>
              <a:t>Same paper as Cluster 1 — it covers both Germanic and Romance.</a:t>
            </a:r>
          </a:p>
          <a:p>
            <a:pPr algn="l">
              <a:spcBef>
                <a:spcPts val="0"/>
              </a:spcBef>
              <a:spcAft>
                <a:spcPts val="400"/>
              </a:spcAft>
            </a:pPr>
            <a:r>
              <a:rPr sz="1200" b="1">
                <a:solidFill>
                  <a:srgbClr val="1F7A95"/>
                </a:solidFill>
                <a:latin typeface="Calibri"/>
              </a:rPr>
              <a:t>•  </a:t>
            </a:r>
            <a:r>
              <a:rPr sz="1200">
                <a:solidFill>
                  <a:srgbClr val="1A1E2A"/>
                </a:solidFill>
                <a:latin typeface="Calibri"/>
              </a:rPr>
              <a:t>Provides the empirical confusion rate between Germanic and Romance that we plan to improve on.</a:t>
            </a:r>
          </a:p>
          <a:p>
            <a:pPr algn="l">
              <a:spcBef>
                <a:spcPts val="0"/>
              </a:spcBef>
              <a:spcAft>
                <a:spcPts val="400"/>
              </a:spcAft>
            </a:pPr>
            <a:r>
              <a:rPr sz="1200" b="1">
                <a:solidFill>
                  <a:srgbClr val="1F7A95"/>
                </a:solidFill>
                <a:latin typeface="Calibri"/>
              </a:rPr>
              <a:t>•  </a:t>
            </a:r>
            <a:r>
              <a:rPr sz="1200">
                <a:solidFill>
                  <a:srgbClr val="1A1E2A"/>
                </a:solidFill>
                <a:latin typeface="Calibri"/>
              </a:rPr>
              <a:t>Lets us show Cluster 1 and Cluster 2 are validated by the same yardstick.</a:t>
            </a:r>
          </a:p>
        </p:txBody>
      </p:sp>
      <p:sp>
        <p:nvSpPr>
          <p:cNvPr id="19" name="TextBox 1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0" name="TextBox 1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3</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Slavic — and the Persian question</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Languages we test</a:t>
            </a:r>
          </a:p>
        </p:txBody>
      </p:sp>
      <p:sp>
        <p:nvSpPr>
          <p:cNvPr id="8" name="Rectangle 7"/>
          <p:cNvSpPr/>
          <p:nvPr/>
        </p:nvSpPr>
        <p:spPr>
          <a:xfrm>
            <a:off x="502920" y="2103120"/>
            <a:ext cx="5486400" cy="914400"/>
          </a:xfrm>
          <a:prstGeom prst="rect">
            <a:avLst/>
          </a:prstGeom>
          <a:solidFill>
            <a:srgbClr val="ECF2F7"/>
          </a:solidFill>
          <a:ln w="19050">
            <a:solidFill>
              <a:srgbClr val="E09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164592" cy="91440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76272"/>
            <a:ext cx="2468880" cy="411480"/>
          </a:xfrm>
          <a:prstGeom prst="rect">
            <a:avLst/>
          </a:prstGeom>
          <a:noFill/>
        </p:spPr>
        <p:txBody>
          <a:bodyPr wrap="square" lIns="0" rIns="0" tIns="0" bIns="0" anchor="t">
            <a:spAutoFit/>
          </a:bodyPr>
          <a:lstStyle/>
          <a:p>
            <a:pPr algn="l"/>
            <a:r>
              <a:rPr sz="1700" b="1" i="0">
                <a:solidFill>
                  <a:srgbClr val="141E46"/>
                </a:solidFill>
                <a:latin typeface="Calibri"/>
              </a:rPr>
              <a:t>Polish</a:t>
            </a:r>
          </a:p>
        </p:txBody>
      </p:sp>
      <p:sp>
        <p:nvSpPr>
          <p:cNvPr id="11" name="TextBox 10"/>
          <p:cNvSpPr txBox="1"/>
          <p:nvPr/>
        </p:nvSpPr>
        <p:spPr>
          <a:xfrm>
            <a:off x="777240" y="2560320"/>
            <a:ext cx="2468880" cy="365760"/>
          </a:xfrm>
          <a:prstGeom prst="rect">
            <a:avLst/>
          </a:prstGeom>
          <a:noFill/>
        </p:spPr>
        <p:txBody>
          <a:bodyPr wrap="square" lIns="0" rIns="0" tIns="0" bIns="0" anchor="t">
            <a:spAutoFit/>
          </a:bodyPr>
          <a:lstStyle/>
          <a:p>
            <a:pPr algn="l"/>
            <a:r>
              <a:rPr sz="1100" b="0" i="1">
                <a:solidFill>
                  <a:srgbClr val="606A78"/>
                </a:solidFill>
                <a:latin typeface="Calibri"/>
              </a:rPr>
              <a:t>ISO  pol</a:t>
            </a:r>
          </a:p>
        </p:txBody>
      </p:sp>
      <p:sp>
        <p:nvSpPr>
          <p:cNvPr id="12" name="TextBox 11"/>
          <p:cNvSpPr txBox="1"/>
          <p:nvPr/>
        </p:nvSpPr>
        <p:spPr>
          <a:xfrm>
            <a:off x="3291840" y="2331720"/>
            <a:ext cx="2926080" cy="548640"/>
          </a:xfrm>
          <a:prstGeom prst="rect">
            <a:avLst/>
          </a:prstGeom>
          <a:noFill/>
        </p:spPr>
        <p:txBody>
          <a:bodyPr wrap="square" lIns="0" rIns="0" tIns="0" bIns="0" anchor="t">
            <a:spAutoFit/>
          </a:bodyPr>
          <a:lstStyle/>
          <a:p>
            <a:pPr algn="l"/>
            <a:r>
              <a:rPr sz="1200" b="0" i="0">
                <a:solidFill>
                  <a:srgbClr val="1A1E2A"/>
                </a:solidFill>
                <a:latin typeface="Calibri"/>
              </a:rPr>
              <a:t>Champion — 6,912 fact-checks / 453 posts</a:t>
            </a:r>
          </a:p>
        </p:txBody>
      </p:sp>
      <p:sp>
        <p:nvSpPr>
          <p:cNvPr id="13" name="Rectangle 12"/>
          <p:cNvSpPr/>
          <p:nvPr/>
        </p:nvSpPr>
        <p:spPr>
          <a:xfrm>
            <a:off x="502920" y="3108960"/>
            <a:ext cx="5486400" cy="914400"/>
          </a:xfrm>
          <a:prstGeom prst="rect">
            <a:avLst/>
          </a:prstGeom>
          <a:solidFill>
            <a:srgbClr val="ECF2F7"/>
          </a:solidFill>
          <a:ln w="19050">
            <a:solidFill>
              <a:srgbClr val="E09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08960"/>
            <a:ext cx="164592" cy="91440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182112"/>
            <a:ext cx="2468880" cy="411480"/>
          </a:xfrm>
          <a:prstGeom prst="rect">
            <a:avLst/>
          </a:prstGeom>
          <a:noFill/>
        </p:spPr>
        <p:txBody>
          <a:bodyPr wrap="square" lIns="0" rIns="0" tIns="0" bIns="0" anchor="t">
            <a:spAutoFit/>
          </a:bodyPr>
          <a:lstStyle/>
          <a:p>
            <a:pPr algn="l"/>
            <a:r>
              <a:rPr sz="1700" b="1" i="0">
                <a:solidFill>
                  <a:srgbClr val="141E46"/>
                </a:solidFill>
                <a:latin typeface="Calibri"/>
              </a:rPr>
              <a:t>Serbo-Croatian</a:t>
            </a:r>
          </a:p>
        </p:txBody>
      </p:sp>
      <p:sp>
        <p:nvSpPr>
          <p:cNvPr id="16" name="TextBox 15"/>
          <p:cNvSpPr txBox="1"/>
          <p:nvPr/>
        </p:nvSpPr>
        <p:spPr>
          <a:xfrm>
            <a:off x="777240" y="3566160"/>
            <a:ext cx="2468880" cy="365760"/>
          </a:xfrm>
          <a:prstGeom prst="rect">
            <a:avLst/>
          </a:prstGeom>
          <a:noFill/>
        </p:spPr>
        <p:txBody>
          <a:bodyPr wrap="square" lIns="0" rIns="0" tIns="0" bIns="0" anchor="t">
            <a:spAutoFit/>
          </a:bodyPr>
          <a:lstStyle/>
          <a:p>
            <a:pPr algn="l"/>
            <a:r>
              <a:rPr sz="1100" b="0" i="1">
                <a:solidFill>
                  <a:srgbClr val="606A78"/>
                </a:solidFill>
                <a:latin typeface="Calibri"/>
              </a:rPr>
              <a:t>ISO  hbs</a:t>
            </a:r>
          </a:p>
        </p:txBody>
      </p:sp>
      <p:sp>
        <p:nvSpPr>
          <p:cNvPr id="17" name="TextBox 16"/>
          <p:cNvSpPr txBox="1"/>
          <p:nvPr/>
        </p:nvSpPr>
        <p:spPr>
          <a:xfrm>
            <a:off x="3291840" y="3337560"/>
            <a:ext cx="2926080" cy="548640"/>
          </a:xfrm>
          <a:prstGeom prst="rect">
            <a:avLst/>
          </a:prstGeom>
          <a:noFill/>
        </p:spPr>
        <p:txBody>
          <a:bodyPr wrap="square" lIns="0" rIns="0" tIns="0" bIns="0" anchor="t">
            <a:spAutoFit/>
          </a:bodyPr>
          <a:lstStyle/>
          <a:p>
            <a:pPr algn="l"/>
            <a:r>
              <a:rPr sz="1200" b="0" i="0">
                <a:solidFill>
                  <a:srgbClr val="1A1E2A"/>
                </a:solidFill>
                <a:latin typeface="Calibri"/>
              </a:rPr>
              <a:t>Comparison — 2,451 / 481 in the data</a:t>
            </a:r>
          </a:p>
        </p:txBody>
      </p:sp>
      <p:sp>
        <p:nvSpPr>
          <p:cNvPr id="18" name="Rectangle 17"/>
          <p:cNvSpPr/>
          <p:nvPr/>
        </p:nvSpPr>
        <p:spPr>
          <a:xfrm>
            <a:off x="502920" y="4297680"/>
            <a:ext cx="5486400" cy="1874519"/>
          </a:xfrm>
          <a:prstGeom prst="rect">
            <a:avLst/>
          </a:prstGeom>
          <a:solidFill>
            <a:srgbClr val="FDEEE0"/>
          </a:solidFill>
          <a:ln w="15240">
            <a:solidFill>
              <a:srgbClr val="B83A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34840"/>
            <a:ext cx="5029200" cy="365760"/>
          </a:xfrm>
          <a:prstGeom prst="rect">
            <a:avLst/>
          </a:prstGeom>
          <a:noFill/>
        </p:spPr>
        <p:txBody>
          <a:bodyPr wrap="square" lIns="0" rIns="0" tIns="0" bIns="0" anchor="t">
            <a:spAutoFit/>
          </a:bodyPr>
          <a:lstStyle/>
          <a:p>
            <a:pPr algn="l"/>
            <a:r>
              <a:rPr sz="1400" b="1" i="0">
                <a:solidFill>
                  <a:srgbClr val="B83A42"/>
                </a:solidFill>
                <a:latin typeface="Calibri"/>
              </a:rPr>
              <a:t>What about Persian?</a:t>
            </a:r>
          </a:p>
        </p:txBody>
      </p:sp>
      <p:sp>
        <p:nvSpPr>
          <p:cNvPr id="20" name="TextBox 19"/>
          <p:cNvSpPr txBox="1"/>
          <p:nvPr/>
        </p:nvSpPr>
        <p:spPr>
          <a:xfrm>
            <a:off x="777240" y="4846320"/>
            <a:ext cx="5029200" cy="1280160"/>
          </a:xfrm>
          <a:prstGeom prst="rect">
            <a:avLst/>
          </a:prstGeom>
          <a:noFill/>
        </p:spPr>
        <p:txBody>
          <a:bodyPr wrap="square" lIns="0" rIns="0" tIns="0" bIns="0" anchor="t">
            <a:spAutoFit/>
          </a:bodyPr>
          <a:lstStyle/>
          <a:p>
            <a:pPr algn="l"/>
            <a:r>
              <a:rPr sz="1200" b="0" i="0">
                <a:solidFill>
                  <a:srgbClr val="1A1E2A"/>
                </a:solidFill>
                <a:latin typeface="Calibri"/>
              </a:rPr>
              <a:t>Persian is technically in both datasets. The data coverage is simply too thin to support reliable monolingual evaluation. We therefore move Polish into the Slavic seat and leave Persian out of the main study.</a:t>
            </a:r>
          </a:p>
        </p:txBody>
      </p:sp>
      <p:sp>
        <p:nvSpPr>
          <p:cNvPr id="21" name="TextBox 20"/>
          <p:cNvSpPr txBox="1"/>
          <p:nvPr/>
        </p:nvSpPr>
        <p:spPr>
          <a:xfrm>
            <a:off x="6446520" y="1691640"/>
            <a:ext cx="5486400" cy="365760"/>
          </a:xfrm>
          <a:prstGeom prst="rect">
            <a:avLst/>
          </a:prstGeom>
          <a:noFill/>
        </p:spPr>
        <p:txBody>
          <a:bodyPr wrap="square" lIns="0" rIns="0" tIns="0" bIns="0" anchor="t">
            <a:spAutoFit/>
          </a:bodyPr>
          <a:lstStyle/>
          <a:p>
            <a:pPr algn="l"/>
            <a:r>
              <a:rPr sz="1400" b="1" i="0">
                <a:solidFill>
                  <a:srgbClr val="141E46"/>
                </a:solidFill>
                <a:latin typeface="Calibri"/>
              </a:rPr>
              <a:t>Why these languages</a:t>
            </a:r>
          </a:p>
        </p:txBody>
      </p:sp>
      <p:sp>
        <p:nvSpPr>
          <p:cNvPr id="22" name="TextBox 21"/>
          <p:cNvSpPr txBox="1"/>
          <p:nvPr/>
        </p:nvSpPr>
        <p:spPr>
          <a:xfrm>
            <a:off x="6446520" y="2103120"/>
            <a:ext cx="5440680" cy="2468880"/>
          </a:xfrm>
          <a:prstGeom prst="rect">
            <a:avLst/>
          </a:prstGeom>
          <a:noFill/>
        </p:spPr>
        <p:txBody>
          <a:bodyPr wrap="square" lIns="0" rIns="0" tIns="0" bIns="0" anchor="t">
            <a:spAutoFit/>
          </a:bodyPr>
          <a:lstStyle/>
          <a:p>
            <a:pPr algn="l">
              <a:spcBef>
                <a:spcPts val="0"/>
              </a:spcBef>
              <a:spcAft>
                <a:spcPts val="1000"/>
              </a:spcAft>
            </a:pPr>
            <a:r>
              <a:rPr sz="1300" b="0" i="0">
                <a:solidFill>
                  <a:srgbClr val="1A1E2A"/>
                </a:solidFill>
                <a:latin typeface="Calibri"/>
              </a:rPr>
              <a:t/>
            </a:r>
            <a:r>
              <a:rPr sz="1300" b="1">
                <a:solidFill>
                  <a:srgbClr val="E09A36"/>
                </a:solidFill>
                <a:latin typeface="Calibri"/>
              </a:rPr>
              <a:t>•  </a:t>
            </a:r>
            <a:r>
              <a:rPr sz="1300">
                <a:solidFill>
                  <a:srgbClr val="1A1E2A"/>
                </a:solidFill>
                <a:latin typeface="Calibri"/>
              </a:rPr>
              <a:t>Polish has the largest Slavic pool in MultiClaim — statistical power.</a:t>
            </a:r>
          </a:p>
          <a:p>
            <a:pPr algn="l">
              <a:spcBef>
                <a:spcPts val="0"/>
              </a:spcBef>
              <a:spcAft>
                <a:spcPts val="1000"/>
              </a:spcAft>
            </a:pPr>
            <a:r>
              <a:rPr sz="1300" b="1">
                <a:solidFill>
                  <a:srgbClr val="E09A36"/>
                </a:solidFill>
                <a:latin typeface="Calibri"/>
              </a:rPr>
              <a:t>•  </a:t>
            </a:r>
            <a:r>
              <a:rPr sz="1300">
                <a:solidFill>
                  <a:srgbClr val="1A1E2A"/>
                </a:solidFill>
                <a:latin typeface="Calibri"/>
              </a:rPr>
              <a:t>Slavic languages change word endings constantly based on grammatical case — a single wrong letter changes the meaning.</a:t>
            </a:r>
          </a:p>
          <a:p>
            <a:pPr algn="l">
              <a:spcBef>
                <a:spcPts val="0"/>
              </a:spcBef>
              <a:spcAft>
                <a:spcPts val="1000"/>
              </a:spcAft>
            </a:pPr>
            <a:r>
              <a:rPr sz="1300" b="1">
                <a:solidFill>
                  <a:srgbClr val="E09A36"/>
                </a:solidFill>
                <a:latin typeface="Calibri"/>
              </a:rPr>
              <a:t>•  </a:t>
            </a:r>
            <a:r>
              <a:rPr sz="1300">
                <a:solidFill>
                  <a:srgbClr val="1A1E2A"/>
                </a:solidFill>
                <a:latin typeface="Calibri"/>
              </a:rPr>
              <a:t>Perfect target for typo-style perturbations: small input change, potentially large semantic shift.</a:t>
            </a:r>
          </a:p>
        </p:txBody>
      </p:sp>
      <p:sp>
        <p:nvSpPr>
          <p:cNvPr id="23" name="TextBox 22"/>
          <p:cNvSpPr txBox="1"/>
          <p:nvPr/>
        </p:nvSpPr>
        <p:spPr>
          <a:xfrm>
            <a:off x="6446520" y="4754880"/>
            <a:ext cx="5486400" cy="365760"/>
          </a:xfrm>
          <a:prstGeom prst="rect">
            <a:avLst/>
          </a:prstGeom>
          <a:noFill/>
        </p:spPr>
        <p:txBody>
          <a:bodyPr wrap="square" lIns="0" rIns="0" tIns="0" bIns="0" anchor="t">
            <a:spAutoFit/>
          </a:bodyPr>
          <a:lstStyle/>
          <a:p>
            <a:pPr algn="l"/>
            <a:r>
              <a:rPr sz="1400" b="1" i="0">
                <a:solidFill>
                  <a:srgbClr val="141E46"/>
                </a:solidFill>
                <a:latin typeface="Calibri"/>
              </a:rPr>
              <a:t>Hypothesis we are testing</a:t>
            </a:r>
          </a:p>
        </p:txBody>
      </p:sp>
      <p:sp>
        <p:nvSpPr>
          <p:cNvPr id="24" name="Rectangle 23"/>
          <p:cNvSpPr/>
          <p:nvPr/>
        </p:nvSpPr>
        <p:spPr>
          <a:xfrm>
            <a:off x="6446520" y="5166360"/>
            <a:ext cx="5440680" cy="1143000"/>
          </a:xfrm>
          <a:prstGeom prst="rect">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46520" y="5166360"/>
            <a:ext cx="109728" cy="114300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5257800"/>
            <a:ext cx="5166360" cy="1005840"/>
          </a:xfrm>
          <a:prstGeom prst="rect">
            <a:avLst/>
          </a:prstGeom>
          <a:noFill/>
        </p:spPr>
        <p:txBody>
          <a:bodyPr wrap="square" lIns="0" rIns="0" tIns="0" bIns="0" anchor="t">
            <a:spAutoFit/>
          </a:bodyPr>
          <a:lstStyle/>
          <a:p>
            <a:pPr algn="l"/>
            <a:r>
              <a:rPr sz="1250" b="0" i="1">
                <a:solidFill>
                  <a:srgbClr val="1A1E2A"/>
                </a:solidFill>
                <a:latin typeface="Calibri"/>
              </a:rPr>
              <a:t>Typos and casing perturbations should hurt Slavic disproportionately — the model's tokenizer was trained mainly on Western European text.</a:t>
            </a:r>
          </a:p>
        </p:txBody>
      </p:sp>
      <p:sp>
        <p:nvSpPr>
          <p:cNvPr id="27" name="TextBox 26"/>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8" name="TextBox 27"/>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CLUSTER 3 — SOURCES</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Two papers anchor the Slavic decision</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830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965960"/>
            <a:ext cx="640080" cy="640080"/>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29968"/>
            <a:ext cx="640080" cy="548640"/>
          </a:xfrm>
          <a:prstGeom prst="rect">
            <a:avLst/>
          </a:prstGeom>
          <a:noFill/>
        </p:spPr>
        <p:txBody>
          <a:bodyPr wrap="square" lIns="0" rIns="0" tIns="0" bIns="0" anchor="t">
            <a:spAutoFit/>
          </a:bodyPr>
          <a:lstStyle/>
          <a:p>
            <a:pPr algn="ctr"/>
            <a:r>
              <a:rPr sz="2200" b="1" i="0">
                <a:solidFill>
                  <a:srgbClr val="FFFFFF"/>
                </a:solidFill>
                <a:latin typeface="Calibri"/>
              </a:rPr>
              <a:t>1</a:t>
            </a:r>
          </a:p>
        </p:txBody>
      </p:sp>
      <p:sp>
        <p:nvSpPr>
          <p:cNvPr id="10" name="TextBox 9"/>
          <p:cNvSpPr txBox="1"/>
          <p:nvPr/>
        </p:nvSpPr>
        <p:spPr>
          <a:xfrm>
            <a:off x="1463040" y="1947672"/>
            <a:ext cx="10149840" cy="594360"/>
          </a:xfrm>
          <a:prstGeom prst="rect">
            <a:avLst/>
          </a:prstGeom>
          <a:noFill/>
        </p:spPr>
        <p:txBody>
          <a:bodyPr wrap="square" lIns="0" rIns="0" tIns="0" bIns="0" anchor="t">
            <a:spAutoFit/>
          </a:bodyPr>
          <a:lstStyle/>
          <a:p>
            <a:pPr algn="l"/>
            <a:r>
              <a:rPr sz="1350" b="1" i="0">
                <a:solidFill>
                  <a:srgbClr val="141E46"/>
                </a:solidFill>
                <a:latin typeface="Calibri"/>
              </a:rPr>
              <a:t>Pikuliak et al. (2023) — Appendix C, Table 5.</a:t>
            </a:r>
          </a:p>
        </p:txBody>
      </p:sp>
      <p:sp>
        <p:nvSpPr>
          <p:cNvPr id="11" name="TextBox 10"/>
          <p:cNvSpPr txBox="1"/>
          <p:nvPr/>
        </p:nvSpPr>
        <p:spPr>
          <a:xfrm>
            <a:off x="1463040" y="2560320"/>
            <a:ext cx="10149840" cy="365760"/>
          </a:xfrm>
          <a:prstGeom prst="rect">
            <a:avLst/>
          </a:prstGeom>
          <a:noFill/>
        </p:spPr>
        <p:txBody>
          <a:bodyPr wrap="square" lIns="0" rIns="0" tIns="0" bIns="0" anchor="t">
            <a:spAutoFit/>
          </a:bodyPr>
          <a:lstStyle/>
          <a:p>
            <a:pPr algn="l"/>
            <a:r>
              <a:rPr sz="1100" b="1" i="0">
                <a:solidFill>
                  <a:srgbClr val="E09A36"/>
                </a:solidFill>
                <a:latin typeface="Calibri"/>
              </a:rPr>
              <a:t>Why this source backs the cluster</a:t>
            </a:r>
          </a:p>
        </p:txBody>
      </p:sp>
      <p:sp>
        <p:nvSpPr>
          <p:cNvPr id="12" name="TextBox 11"/>
          <p:cNvSpPr txBox="1"/>
          <p:nvPr/>
        </p:nvSpPr>
        <p:spPr>
          <a:xfrm>
            <a:off x="1463040" y="28803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E09A36"/>
                </a:solidFill>
                <a:latin typeface="Calibri"/>
              </a:rPr>
              <a:t>•  </a:t>
            </a:r>
            <a:r>
              <a:rPr sz="1200">
                <a:solidFill>
                  <a:srgbClr val="1A1E2A"/>
                </a:solidFill>
                <a:latin typeface="Calibri"/>
              </a:rPr>
              <a:t>The exact table showing Persian has only 418 fact-checks and 17 posts.</a:t>
            </a:r>
          </a:p>
          <a:p>
            <a:pPr algn="l">
              <a:spcBef>
                <a:spcPts val="0"/>
              </a:spcBef>
              <a:spcAft>
                <a:spcPts val="400"/>
              </a:spcAft>
            </a:pPr>
            <a:r>
              <a:rPr sz="1200" b="1">
                <a:solidFill>
                  <a:srgbClr val="E09A36"/>
                </a:solidFill>
                <a:latin typeface="Calibri"/>
              </a:rPr>
              <a:t>•  </a:t>
            </a:r>
            <a:r>
              <a:rPr sz="1200">
                <a:solidFill>
                  <a:srgbClr val="1A1E2A"/>
                </a:solidFill>
                <a:latin typeface="Calibri"/>
              </a:rPr>
              <a:t>Justifies switching the Cluster 3 champion from Persian to Polish on data grounds, not preference.</a:t>
            </a:r>
          </a:p>
          <a:p>
            <a:pPr algn="l">
              <a:spcBef>
                <a:spcPts val="0"/>
              </a:spcBef>
              <a:spcAft>
                <a:spcPts val="400"/>
              </a:spcAft>
            </a:pPr>
            <a:r>
              <a:rPr sz="1200" b="1">
                <a:solidFill>
                  <a:srgbClr val="E09A36"/>
                </a:solidFill>
                <a:latin typeface="Calibri"/>
              </a:rPr>
              <a:t>•  </a:t>
            </a:r>
            <a:r>
              <a:rPr sz="1200">
                <a:solidFill>
                  <a:srgbClr val="1A1E2A"/>
                </a:solidFill>
                <a:latin typeface="Calibri"/>
              </a:rPr>
              <a:t>Same paper supplies the Polish counts that put Polish ahead of Croatian as Slavic champion.</a:t>
            </a:r>
          </a:p>
        </p:txBody>
      </p:sp>
      <p:sp>
        <p:nvSpPr>
          <p:cNvPr id="13" name="Rectangle 12"/>
          <p:cNvSpPr/>
          <p:nvPr/>
        </p:nvSpPr>
        <p:spPr>
          <a:xfrm>
            <a:off x="502920" y="38404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023360"/>
            <a:ext cx="640080" cy="640080"/>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87368"/>
            <a:ext cx="640080" cy="548640"/>
          </a:xfrm>
          <a:prstGeom prst="rect">
            <a:avLst/>
          </a:prstGeom>
          <a:noFill/>
        </p:spPr>
        <p:txBody>
          <a:bodyPr wrap="square" lIns="0" rIns="0" tIns="0" bIns="0" anchor="t">
            <a:spAutoFit/>
          </a:bodyPr>
          <a:lstStyle/>
          <a:p>
            <a:pPr algn="ctr"/>
            <a:r>
              <a:rPr sz="2200" b="1" i="0">
                <a:solidFill>
                  <a:srgbClr val="FFFFFF"/>
                </a:solidFill>
                <a:latin typeface="Calibri"/>
              </a:rPr>
              <a:t>2</a:t>
            </a:r>
          </a:p>
        </p:txBody>
      </p:sp>
      <p:sp>
        <p:nvSpPr>
          <p:cNvPr id="16" name="TextBox 15"/>
          <p:cNvSpPr txBox="1"/>
          <p:nvPr/>
        </p:nvSpPr>
        <p:spPr>
          <a:xfrm>
            <a:off x="1463040" y="4005072"/>
            <a:ext cx="10149840" cy="594360"/>
          </a:xfrm>
          <a:prstGeom prst="rect">
            <a:avLst/>
          </a:prstGeom>
          <a:noFill/>
        </p:spPr>
        <p:txBody>
          <a:bodyPr wrap="square" lIns="0" rIns="0" tIns="0" bIns="0" anchor="t">
            <a:spAutoFit/>
          </a:bodyPr>
          <a:lstStyle/>
          <a:p>
            <a:pPr algn="l"/>
            <a:r>
              <a:rPr sz="1350" b="1" i="0">
                <a:solidFill>
                  <a:srgbClr val="141E46"/>
                </a:solidFill>
                <a:latin typeface="Calibri"/>
              </a:rPr>
              <a:t>Olander (2022), Chapter on Indo-Iranian.</a:t>
            </a:r>
          </a:p>
        </p:txBody>
      </p:sp>
      <p:sp>
        <p:nvSpPr>
          <p:cNvPr id="17" name="TextBox 16"/>
          <p:cNvSpPr txBox="1"/>
          <p:nvPr/>
        </p:nvSpPr>
        <p:spPr>
          <a:xfrm>
            <a:off x="1463040" y="4617720"/>
            <a:ext cx="10149840" cy="365760"/>
          </a:xfrm>
          <a:prstGeom prst="rect">
            <a:avLst/>
          </a:prstGeom>
          <a:noFill/>
        </p:spPr>
        <p:txBody>
          <a:bodyPr wrap="square" lIns="0" rIns="0" tIns="0" bIns="0" anchor="t">
            <a:spAutoFit/>
          </a:bodyPr>
          <a:lstStyle/>
          <a:p>
            <a:pPr algn="l"/>
            <a:r>
              <a:rPr sz="1100" b="1" i="0">
                <a:solidFill>
                  <a:srgbClr val="E09A36"/>
                </a:solidFill>
                <a:latin typeface="Calibri"/>
              </a:rPr>
              <a:t>Why this source backs the cluster</a:t>
            </a:r>
          </a:p>
        </p:txBody>
      </p:sp>
      <p:sp>
        <p:nvSpPr>
          <p:cNvPr id="18" name="TextBox 17"/>
          <p:cNvSpPr txBox="1"/>
          <p:nvPr/>
        </p:nvSpPr>
        <p:spPr>
          <a:xfrm>
            <a:off x="1463040" y="49377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E09A36"/>
                </a:solidFill>
                <a:latin typeface="Calibri"/>
              </a:rPr>
              <a:t>•  </a:t>
            </a:r>
            <a:r>
              <a:rPr sz="1200">
                <a:solidFill>
                  <a:srgbClr val="1A1E2A"/>
                </a:solidFill>
                <a:latin typeface="Calibri"/>
              </a:rPr>
              <a:t>Authoritative reference for the position of Persian within Indo-European.</a:t>
            </a:r>
          </a:p>
          <a:p>
            <a:pPr algn="l">
              <a:spcBef>
                <a:spcPts val="0"/>
              </a:spcBef>
              <a:spcAft>
                <a:spcPts val="400"/>
              </a:spcAft>
            </a:pPr>
            <a:r>
              <a:rPr sz="1200" b="1">
                <a:solidFill>
                  <a:srgbClr val="E09A36"/>
                </a:solidFill>
                <a:latin typeface="Calibri"/>
              </a:rPr>
              <a:t>•  </a:t>
            </a:r>
            <a:r>
              <a:rPr sz="1200">
                <a:solidFill>
                  <a:srgbClr val="1A1E2A"/>
                </a:solidFill>
                <a:latin typeface="Calibri"/>
              </a:rPr>
              <a:t>Backs our decision to keep Persian outside the main study rather than force it into a Slavic cluster where it does not belong.</a:t>
            </a:r>
          </a:p>
        </p:txBody>
      </p:sp>
      <p:sp>
        <p:nvSpPr>
          <p:cNvPr id="19" name="TextBox 1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0" name="TextBox 1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TYPOLOGICAL STRESS SAMPLE</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Not a cluster — four orthogonal probes</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0972800" cy="365760"/>
          </a:xfrm>
          <a:prstGeom prst="rect">
            <a:avLst/>
          </a:prstGeom>
          <a:noFill/>
        </p:spPr>
        <p:txBody>
          <a:bodyPr wrap="square" lIns="0" rIns="0" tIns="0" bIns="0" anchor="t">
            <a:spAutoFit/>
          </a:bodyPr>
          <a:lstStyle/>
          <a:p>
            <a:pPr algn="l"/>
            <a:r>
              <a:rPr sz="1300" b="0" i="1">
                <a:solidFill>
                  <a:srgbClr val="606A78"/>
                </a:solidFill>
                <a:latin typeface="Calibri"/>
              </a:rPr>
              <a:t>Replaces W4 Clusters 4–7. Each language probes ONE typological property in isolation.</a:t>
            </a:r>
          </a:p>
        </p:txBody>
      </p:sp>
      <p:sp>
        <p:nvSpPr>
          <p:cNvPr id="8" name="Rectangle 7"/>
          <p:cNvSpPr/>
          <p:nvPr/>
        </p:nvSpPr>
        <p:spPr>
          <a:xfrm>
            <a:off x="502920" y="2103120"/>
            <a:ext cx="5852160" cy="1920240"/>
          </a:xfrm>
          <a:prstGeom prst="rect">
            <a:avLst/>
          </a:prstGeom>
          <a:solidFill>
            <a:srgbClr val="ECF2F7"/>
          </a:solidFill>
          <a:ln w="1524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164592" cy="192024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40280"/>
            <a:ext cx="2743200" cy="457200"/>
          </a:xfrm>
          <a:prstGeom prst="rect">
            <a:avLst/>
          </a:prstGeom>
          <a:noFill/>
        </p:spPr>
        <p:txBody>
          <a:bodyPr wrap="square" lIns="0" rIns="0" tIns="0" bIns="0" anchor="t">
            <a:spAutoFit/>
          </a:bodyPr>
          <a:lstStyle/>
          <a:p>
            <a:pPr algn="l"/>
            <a:r>
              <a:rPr sz="2000" b="1" i="0">
                <a:solidFill>
                  <a:srgbClr val="141E46"/>
                </a:solidFill>
                <a:latin typeface="Calibri"/>
              </a:rPr>
              <a:t>Hindi</a:t>
            </a:r>
          </a:p>
        </p:txBody>
      </p:sp>
      <p:sp>
        <p:nvSpPr>
          <p:cNvPr id="11" name="TextBox 10"/>
          <p:cNvSpPr txBox="1"/>
          <p:nvPr/>
        </p:nvSpPr>
        <p:spPr>
          <a:xfrm>
            <a:off x="822960" y="2651760"/>
            <a:ext cx="2743200" cy="365760"/>
          </a:xfrm>
          <a:prstGeom prst="rect">
            <a:avLst/>
          </a:prstGeom>
          <a:noFill/>
        </p:spPr>
        <p:txBody>
          <a:bodyPr wrap="square" lIns="0" rIns="0" tIns="0" bIns="0" anchor="t">
            <a:spAutoFit/>
          </a:bodyPr>
          <a:lstStyle/>
          <a:p>
            <a:pPr algn="l"/>
            <a:r>
              <a:rPr sz="1100" b="0" i="1">
                <a:solidFill>
                  <a:srgbClr val="606A78"/>
                </a:solidFill>
                <a:latin typeface="Calibri"/>
              </a:rPr>
              <a:t>ISO  hin</a:t>
            </a:r>
          </a:p>
        </p:txBody>
      </p:sp>
      <p:sp>
        <p:nvSpPr>
          <p:cNvPr id="12" name="TextBox 11"/>
          <p:cNvSpPr txBox="1"/>
          <p:nvPr/>
        </p:nvSpPr>
        <p:spPr>
          <a:xfrm>
            <a:off x="822960" y="3063240"/>
            <a:ext cx="5486400" cy="1143000"/>
          </a:xfrm>
          <a:prstGeom prst="rect">
            <a:avLst/>
          </a:prstGeom>
          <a:noFill/>
        </p:spPr>
        <p:txBody>
          <a:bodyPr wrap="square" lIns="0" rIns="0" tIns="0" bIns="0" anchor="t">
            <a:spAutoFit/>
          </a:bodyPr>
          <a:lstStyle/>
          <a:p>
            <a:pPr algn="l"/>
            <a:r>
              <a:rPr sz="1200" b="0" i="0">
                <a:solidFill>
                  <a:srgbClr val="1A1E2A"/>
                </a:solidFill>
                <a:latin typeface="Calibri"/>
              </a:rPr>
              <a:t>Devanagari script (Abugida).
Vowel marks above/below consonants.
SOV word order.</a:t>
            </a:r>
          </a:p>
        </p:txBody>
      </p:sp>
      <p:sp>
        <p:nvSpPr>
          <p:cNvPr id="13" name="Rectangle 12"/>
          <p:cNvSpPr/>
          <p:nvPr/>
        </p:nvSpPr>
        <p:spPr>
          <a:xfrm>
            <a:off x="6355080" y="2103120"/>
            <a:ext cx="5852160" cy="1920240"/>
          </a:xfrm>
          <a:prstGeom prst="rect">
            <a:avLst/>
          </a:prstGeom>
          <a:solidFill>
            <a:srgbClr val="ECF2F7"/>
          </a:solidFill>
          <a:ln w="1524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103120"/>
            <a:ext cx="164592" cy="192024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240280"/>
            <a:ext cx="2743200" cy="457200"/>
          </a:xfrm>
          <a:prstGeom prst="rect">
            <a:avLst/>
          </a:prstGeom>
          <a:noFill/>
        </p:spPr>
        <p:txBody>
          <a:bodyPr wrap="square" lIns="0" rIns="0" tIns="0" bIns="0" anchor="t">
            <a:spAutoFit/>
          </a:bodyPr>
          <a:lstStyle/>
          <a:p>
            <a:pPr algn="l"/>
            <a:r>
              <a:rPr sz="2000" b="1" i="0">
                <a:solidFill>
                  <a:srgbClr val="141E46"/>
                </a:solidFill>
                <a:latin typeface="Calibri"/>
              </a:rPr>
              <a:t>Arabic</a:t>
            </a:r>
          </a:p>
        </p:txBody>
      </p:sp>
      <p:sp>
        <p:nvSpPr>
          <p:cNvPr id="16" name="TextBox 15"/>
          <p:cNvSpPr txBox="1"/>
          <p:nvPr/>
        </p:nvSpPr>
        <p:spPr>
          <a:xfrm>
            <a:off x="6675120" y="2651760"/>
            <a:ext cx="2743200" cy="365760"/>
          </a:xfrm>
          <a:prstGeom prst="rect">
            <a:avLst/>
          </a:prstGeom>
          <a:noFill/>
        </p:spPr>
        <p:txBody>
          <a:bodyPr wrap="square" lIns="0" rIns="0" tIns="0" bIns="0" anchor="t">
            <a:spAutoFit/>
          </a:bodyPr>
          <a:lstStyle/>
          <a:p>
            <a:pPr algn="l"/>
            <a:r>
              <a:rPr sz="1100" b="0" i="1">
                <a:solidFill>
                  <a:srgbClr val="606A78"/>
                </a:solidFill>
                <a:latin typeface="Calibri"/>
              </a:rPr>
              <a:t>ISO  ara</a:t>
            </a:r>
          </a:p>
        </p:txBody>
      </p:sp>
      <p:sp>
        <p:nvSpPr>
          <p:cNvPr id="17" name="TextBox 16"/>
          <p:cNvSpPr txBox="1"/>
          <p:nvPr/>
        </p:nvSpPr>
        <p:spPr>
          <a:xfrm>
            <a:off x="6675120" y="3063240"/>
            <a:ext cx="5486400" cy="1143000"/>
          </a:xfrm>
          <a:prstGeom prst="rect">
            <a:avLst/>
          </a:prstGeom>
          <a:noFill/>
        </p:spPr>
        <p:txBody>
          <a:bodyPr wrap="square" lIns="0" rIns="0" tIns="0" bIns="0" anchor="t">
            <a:spAutoFit/>
          </a:bodyPr>
          <a:lstStyle/>
          <a:p>
            <a:pPr algn="l"/>
            <a:r>
              <a:rPr sz="1200" b="0" i="0">
                <a:solidFill>
                  <a:srgbClr val="1A1E2A"/>
                </a:solidFill>
                <a:latin typeface="Calibri"/>
              </a:rPr>
              <a:t>Right-to-left script.
Words built from 3-letter roots.
Vowels often omitted.</a:t>
            </a:r>
          </a:p>
        </p:txBody>
      </p:sp>
      <p:sp>
        <p:nvSpPr>
          <p:cNvPr id="18" name="Rectangle 17"/>
          <p:cNvSpPr/>
          <p:nvPr/>
        </p:nvSpPr>
        <p:spPr>
          <a:xfrm>
            <a:off x="502920" y="4206240"/>
            <a:ext cx="5852160" cy="1920240"/>
          </a:xfrm>
          <a:prstGeom prst="rect">
            <a:avLst/>
          </a:prstGeom>
          <a:solidFill>
            <a:srgbClr val="ECF2F7"/>
          </a:solidFill>
          <a:ln w="1524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206240"/>
            <a:ext cx="164592" cy="192024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43400"/>
            <a:ext cx="2743200" cy="457200"/>
          </a:xfrm>
          <a:prstGeom prst="rect">
            <a:avLst/>
          </a:prstGeom>
          <a:noFill/>
        </p:spPr>
        <p:txBody>
          <a:bodyPr wrap="square" lIns="0" rIns="0" tIns="0" bIns="0" anchor="t">
            <a:spAutoFit/>
          </a:bodyPr>
          <a:lstStyle/>
          <a:p>
            <a:pPr algn="l"/>
            <a:r>
              <a:rPr sz="2000" b="1" i="0">
                <a:solidFill>
                  <a:srgbClr val="141E46"/>
                </a:solidFill>
                <a:latin typeface="Calibri"/>
              </a:rPr>
              <a:t>Malayalam</a:t>
            </a:r>
          </a:p>
        </p:txBody>
      </p:sp>
      <p:sp>
        <p:nvSpPr>
          <p:cNvPr id="21" name="TextBox 20"/>
          <p:cNvSpPr txBox="1"/>
          <p:nvPr/>
        </p:nvSpPr>
        <p:spPr>
          <a:xfrm>
            <a:off x="822960" y="4754880"/>
            <a:ext cx="2743200" cy="365760"/>
          </a:xfrm>
          <a:prstGeom prst="rect">
            <a:avLst/>
          </a:prstGeom>
          <a:noFill/>
        </p:spPr>
        <p:txBody>
          <a:bodyPr wrap="square" lIns="0" rIns="0" tIns="0" bIns="0" anchor="t">
            <a:spAutoFit/>
          </a:bodyPr>
          <a:lstStyle/>
          <a:p>
            <a:pPr algn="l"/>
            <a:r>
              <a:rPr sz="1100" b="0" i="1">
                <a:solidFill>
                  <a:srgbClr val="606A78"/>
                </a:solidFill>
                <a:latin typeface="Calibri"/>
              </a:rPr>
              <a:t>ISO  mal</a:t>
            </a:r>
          </a:p>
        </p:txBody>
      </p:sp>
      <p:sp>
        <p:nvSpPr>
          <p:cNvPr id="22" name="TextBox 21"/>
          <p:cNvSpPr txBox="1"/>
          <p:nvPr/>
        </p:nvSpPr>
        <p:spPr>
          <a:xfrm>
            <a:off x="822960" y="5166360"/>
            <a:ext cx="5486400" cy="1143000"/>
          </a:xfrm>
          <a:prstGeom prst="rect">
            <a:avLst/>
          </a:prstGeom>
          <a:noFill/>
        </p:spPr>
        <p:txBody>
          <a:bodyPr wrap="square" lIns="0" rIns="0" tIns="0" bIns="0" anchor="t">
            <a:spAutoFit/>
          </a:bodyPr>
          <a:lstStyle/>
          <a:p>
            <a:pPr algn="l"/>
            <a:r>
              <a:rPr sz="1200" b="0" i="0">
                <a:solidFill>
                  <a:srgbClr val="1A1E2A"/>
                </a:solidFill>
                <a:latin typeface="Calibri"/>
              </a:rPr>
              <a:t>Heavily agglutinating — one
Malayalam word ≈ one English sentence.
Low training data.</a:t>
            </a:r>
          </a:p>
        </p:txBody>
      </p:sp>
      <p:sp>
        <p:nvSpPr>
          <p:cNvPr id="23" name="Rectangle 22"/>
          <p:cNvSpPr/>
          <p:nvPr/>
        </p:nvSpPr>
        <p:spPr>
          <a:xfrm>
            <a:off x="6355080" y="4206240"/>
            <a:ext cx="5852160" cy="1920240"/>
          </a:xfrm>
          <a:prstGeom prst="rect">
            <a:avLst/>
          </a:prstGeom>
          <a:solidFill>
            <a:srgbClr val="ECF2F7"/>
          </a:solidFill>
          <a:ln w="1524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4206240"/>
            <a:ext cx="164592" cy="192024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4343400"/>
            <a:ext cx="2743200" cy="457200"/>
          </a:xfrm>
          <a:prstGeom prst="rect">
            <a:avLst/>
          </a:prstGeom>
          <a:noFill/>
        </p:spPr>
        <p:txBody>
          <a:bodyPr wrap="square" lIns="0" rIns="0" tIns="0" bIns="0" anchor="t">
            <a:spAutoFit/>
          </a:bodyPr>
          <a:lstStyle/>
          <a:p>
            <a:pPr algn="l"/>
            <a:r>
              <a:rPr sz="2000" b="1" i="0">
                <a:solidFill>
                  <a:srgbClr val="141E46"/>
                </a:solidFill>
                <a:latin typeface="Calibri"/>
              </a:rPr>
              <a:t>Mandarin</a:t>
            </a:r>
          </a:p>
        </p:txBody>
      </p:sp>
      <p:sp>
        <p:nvSpPr>
          <p:cNvPr id="26" name="TextBox 25"/>
          <p:cNvSpPr txBox="1"/>
          <p:nvPr/>
        </p:nvSpPr>
        <p:spPr>
          <a:xfrm>
            <a:off x="6675120" y="4754880"/>
            <a:ext cx="2743200" cy="365760"/>
          </a:xfrm>
          <a:prstGeom prst="rect">
            <a:avLst/>
          </a:prstGeom>
          <a:noFill/>
        </p:spPr>
        <p:txBody>
          <a:bodyPr wrap="square" lIns="0" rIns="0" tIns="0" bIns="0" anchor="t">
            <a:spAutoFit/>
          </a:bodyPr>
          <a:lstStyle/>
          <a:p>
            <a:pPr algn="l"/>
            <a:r>
              <a:rPr sz="1100" b="0" i="1">
                <a:solidFill>
                  <a:srgbClr val="606A78"/>
                </a:solidFill>
                <a:latin typeface="Calibri"/>
              </a:rPr>
              <a:t>ISO  zho</a:t>
            </a:r>
          </a:p>
        </p:txBody>
      </p:sp>
      <p:sp>
        <p:nvSpPr>
          <p:cNvPr id="27" name="TextBox 26"/>
          <p:cNvSpPr txBox="1"/>
          <p:nvPr/>
        </p:nvSpPr>
        <p:spPr>
          <a:xfrm>
            <a:off x="6675120" y="5166360"/>
            <a:ext cx="5486400" cy="1143000"/>
          </a:xfrm>
          <a:prstGeom prst="rect">
            <a:avLst/>
          </a:prstGeom>
          <a:noFill/>
        </p:spPr>
        <p:txBody>
          <a:bodyPr wrap="square" lIns="0" rIns="0" tIns="0" bIns="0" anchor="t">
            <a:spAutoFit/>
          </a:bodyPr>
          <a:lstStyle/>
          <a:p>
            <a:pPr algn="l"/>
            <a:r>
              <a:rPr sz="1200" b="0" i="0">
                <a:solidFill>
                  <a:srgbClr val="1A1E2A"/>
                </a:solidFill>
                <a:latin typeface="Calibri"/>
              </a:rPr>
              <a:t>Logographic characters.
No spaces between words.
No plurals, no tense markers.</a:t>
            </a:r>
          </a:p>
        </p:txBody>
      </p:sp>
      <p:sp>
        <p:nvSpPr>
          <p:cNvPr id="28" name="TextBox 27"/>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9" name="TextBox 28"/>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STRESS SAMPLE — DESIGN RATIONALE</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What each probe tests, and why we picked it</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91640"/>
            <a:ext cx="11247120" cy="566928"/>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01368"/>
            <a:ext cx="10972800" cy="365760"/>
          </a:xfrm>
          <a:prstGeom prst="rect">
            <a:avLst/>
          </a:prstGeom>
          <a:noFill/>
        </p:spPr>
        <p:txBody>
          <a:bodyPr wrap="square" lIns="0" rIns="0" tIns="0" bIns="0" anchor="t">
            <a:spAutoFit/>
          </a:bodyPr>
          <a:lstStyle/>
          <a:p>
            <a:pPr algn="l"/>
            <a:r>
              <a:rPr sz="1200" b="1" i="1">
                <a:solidFill>
                  <a:srgbClr val="FFFFFF"/>
                </a:solidFill>
                <a:latin typeface="Calibri"/>
              </a:rPr>
              <a:t>"Orthogonal" = each language stresses ONE axis the others do NOT — failures on one probe cannot be blamed on the others.</a:t>
            </a:r>
          </a:p>
        </p:txBody>
      </p:sp>
      <p:sp>
        <p:nvSpPr>
          <p:cNvPr id="9" name="Rectangle 8"/>
          <p:cNvSpPr/>
          <p:nvPr/>
        </p:nvSpPr>
        <p:spPr>
          <a:xfrm>
            <a:off x="502920" y="2468880"/>
            <a:ext cx="11247120" cy="914400"/>
          </a:xfrm>
          <a:prstGeom prst="rect">
            <a:avLst/>
          </a:prstGeom>
          <a:solidFill>
            <a:srgbClr val="ECF2F7"/>
          </a:solidFill>
          <a:ln w="6350">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633472"/>
            <a:ext cx="868680" cy="594360"/>
          </a:xfrm>
          <a:prstGeom prst="rect">
            <a:avLst/>
          </a:prstGeom>
          <a:solidFill>
            <a:srgbClr val="CE6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15768"/>
            <a:ext cx="868680" cy="457200"/>
          </a:xfrm>
          <a:prstGeom prst="rect">
            <a:avLst/>
          </a:prstGeom>
          <a:noFill/>
        </p:spPr>
        <p:txBody>
          <a:bodyPr wrap="square" lIns="0" rIns="0" tIns="0" bIns="0" anchor="t">
            <a:spAutoFit/>
          </a:bodyPr>
          <a:lstStyle/>
          <a:p>
            <a:pPr algn="ctr"/>
            <a:r>
              <a:rPr sz="2000" b="1" i="0">
                <a:solidFill>
                  <a:srgbClr val="FFFFFF"/>
                </a:solidFill>
                <a:latin typeface="Calibri"/>
              </a:rPr>
              <a:t>HI</a:t>
            </a:r>
          </a:p>
        </p:txBody>
      </p:sp>
      <p:sp>
        <p:nvSpPr>
          <p:cNvPr id="12" name="TextBox 11"/>
          <p:cNvSpPr txBox="1"/>
          <p:nvPr/>
        </p:nvSpPr>
        <p:spPr>
          <a:xfrm>
            <a:off x="1691640" y="2587752"/>
            <a:ext cx="2286000" cy="365760"/>
          </a:xfrm>
          <a:prstGeom prst="rect">
            <a:avLst/>
          </a:prstGeom>
          <a:noFill/>
        </p:spPr>
        <p:txBody>
          <a:bodyPr wrap="square" lIns="0" rIns="0" tIns="0" bIns="0" anchor="t">
            <a:spAutoFit/>
          </a:bodyPr>
          <a:lstStyle/>
          <a:p>
            <a:pPr algn="l"/>
            <a:r>
              <a:rPr sz="1400" b="1" i="0">
                <a:solidFill>
                  <a:srgbClr val="141E46"/>
                </a:solidFill>
                <a:latin typeface="Calibri"/>
              </a:rPr>
              <a:t>Hindi</a:t>
            </a:r>
          </a:p>
        </p:txBody>
      </p:sp>
      <p:sp>
        <p:nvSpPr>
          <p:cNvPr id="13" name="TextBox 12"/>
          <p:cNvSpPr txBox="1"/>
          <p:nvPr/>
        </p:nvSpPr>
        <p:spPr>
          <a:xfrm>
            <a:off x="1691640" y="2944368"/>
            <a:ext cx="2468880" cy="365760"/>
          </a:xfrm>
          <a:prstGeom prst="rect">
            <a:avLst/>
          </a:prstGeom>
          <a:noFill/>
        </p:spPr>
        <p:txBody>
          <a:bodyPr wrap="square" lIns="0" rIns="0" tIns="0" bIns="0" anchor="t">
            <a:spAutoFit/>
          </a:bodyPr>
          <a:lstStyle/>
          <a:p>
            <a:pPr algn="l"/>
            <a:r>
              <a:rPr sz="1150" b="1" i="1">
                <a:solidFill>
                  <a:srgbClr val="CE6F3A"/>
                </a:solidFill>
                <a:latin typeface="Calibri"/>
              </a:rPr>
              <a:t>Abugida-script probe</a:t>
            </a:r>
          </a:p>
        </p:txBody>
      </p:sp>
      <p:sp>
        <p:nvSpPr>
          <p:cNvPr id="14" name="TextBox 13"/>
          <p:cNvSpPr txBox="1"/>
          <p:nvPr/>
        </p:nvSpPr>
        <p:spPr>
          <a:xfrm>
            <a:off x="4297680" y="2633472"/>
            <a:ext cx="7315200" cy="640080"/>
          </a:xfrm>
          <a:prstGeom prst="rect">
            <a:avLst/>
          </a:prstGeom>
          <a:noFill/>
        </p:spPr>
        <p:txBody>
          <a:bodyPr wrap="square" lIns="0" rIns="0" tIns="0" bIns="0" anchor="t">
            <a:spAutoFit/>
          </a:bodyPr>
          <a:lstStyle/>
          <a:p>
            <a:pPr algn="l"/>
            <a:r>
              <a:rPr sz="1150" b="0" i="0">
                <a:solidFill>
                  <a:srgbClr val="1A1E2A"/>
                </a:solidFill>
                <a:latin typeface="Calibri"/>
              </a:rPr>
              <a:t>Tests whether the tokenizer handles vowel diacritics correctly. In Devanagari the vowel is a mark attached to the consonant — BPE tokenizers trained on Latin script often split these incorrectly.</a:t>
            </a:r>
          </a:p>
        </p:txBody>
      </p:sp>
      <p:sp>
        <p:nvSpPr>
          <p:cNvPr id="15" name="Rectangle 14"/>
          <p:cNvSpPr/>
          <p:nvPr/>
        </p:nvSpPr>
        <p:spPr>
          <a:xfrm>
            <a:off x="502920" y="3474720"/>
            <a:ext cx="11247120" cy="914400"/>
          </a:xfrm>
          <a:prstGeom prst="rect">
            <a:avLst/>
          </a:prstGeom>
          <a:solidFill>
            <a:srgbClr val="ECF2F7"/>
          </a:solidFill>
          <a:ln w="6350">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639312"/>
            <a:ext cx="868680" cy="594360"/>
          </a:xfrm>
          <a:prstGeom prst="rect">
            <a:avLst/>
          </a:prstGeom>
          <a:solidFill>
            <a:srgbClr val="408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21608"/>
            <a:ext cx="868680" cy="457200"/>
          </a:xfrm>
          <a:prstGeom prst="rect">
            <a:avLst/>
          </a:prstGeom>
          <a:noFill/>
        </p:spPr>
        <p:txBody>
          <a:bodyPr wrap="square" lIns="0" rIns="0" tIns="0" bIns="0" anchor="t">
            <a:spAutoFit/>
          </a:bodyPr>
          <a:lstStyle/>
          <a:p>
            <a:pPr algn="ctr"/>
            <a:r>
              <a:rPr sz="2000" b="1" i="0">
                <a:solidFill>
                  <a:srgbClr val="FFFFFF"/>
                </a:solidFill>
                <a:latin typeface="Calibri"/>
              </a:rPr>
              <a:t>AR</a:t>
            </a:r>
          </a:p>
        </p:txBody>
      </p:sp>
      <p:sp>
        <p:nvSpPr>
          <p:cNvPr id="18" name="TextBox 17"/>
          <p:cNvSpPr txBox="1"/>
          <p:nvPr/>
        </p:nvSpPr>
        <p:spPr>
          <a:xfrm>
            <a:off x="1691640" y="3593592"/>
            <a:ext cx="2286000" cy="365760"/>
          </a:xfrm>
          <a:prstGeom prst="rect">
            <a:avLst/>
          </a:prstGeom>
          <a:noFill/>
        </p:spPr>
        <p:txBody>
          <a:bodyPr wrap="square" lIns="0" rIns="0" tIns="0" bIns="0" anchor="t">
            <a:spAutoFit/>
          </a:bodyPr>
          <a:lstStyle/>
          <a:p>
            <a:pPr algn="l"/>
            <a:r>
              <a:rPr sz="1400" b="1" i="0">
                <a:solidFill>
                  <a:srgbClr val="141E46"/>
                </a:solidFill>
                <a:latin typeface="Calibri"/>
              </a:rPr>
              <a:t>Arabic</a:t>
            </a:r>
          </a:p>
        </p:txBody>
      </p:sp>
      <p:sp>
        <p:nvSpPr>
          <p:cNvPr id="19" name="TextBox 18"/>
          <p:cNvSpPr txBox="1"/>
          <p:nvPr/>
        </p:nvSpPr>
        <p:spPr>
          <a:xfrm>
            <a:off x="1691640" y="3950208"/>
            <a:ext cx="2468880" cy="365760"/>
          </a:xfrm>
          <a:prstGeom prst="rect">
            <a:avLst/>
          </a:prstGeom>
          <a:noFill/>
        </p:spPr>
        <p:txBody>
          <a:bodyPr wrap="square" lIns="0" rIns="0" tIns="0" bIns="0" anchor="t">
            <a:spAutoFit/>
          </a:bodyPr>
          <a:lstStyle/>
          <a:p>
            <a:pPr algn="l"/>
            <a:r>
              <a:rPr sz="1150" b="1" i="1">
                <a:solidFill>
                  <a:srgbClr val="408270"/>
                </a:solidFill>
                <a:latin typeface="Calibri"/>
              </a:rPr>
              <a:t>RTL + Abjad probe</a:t>
            </a:r>
          </a:p>
        </p:txBody>
      </p:sp>
      <p:sp>
        <p:nvSpPr>
          <p:cNvPr id="20" name="TextBox 19"/>
          <p:cNvSpPr txBox="1"/>
          <p:nvPr/>
        </p:nvSpPr>
        <p:spPr>
          <a:xfrm>
            <a:off x="4297680" y="3639312"/>
            <a:ext cx="7315200" cy="640080"/>
          </a:xfrm>
          <a:prstGeom prst="rect">
            <a:avLst/>
          </a:prstGeom>
          <a:noFill/>
        </p:spPr>
        <p:txBody>
          <a:bodyPr wrap="square" lIns="0" rIns="0" tIns="0" bIns="0" anchor="t">
            <a:spAutoFit/>
          </a:bodyPr>
          <a:lstStyle/>
          <a:p>
            <a:pPr algn="l"/>
            <a:r>
              <a:rPr sz="1150" b="0" i="0">
                <a:solidFill>
                  <a:srgbClr val="1A1E2A"/>
                </a:solidFill>
                <a:latin typeface="Calibri"/>
              </a:rPr>
              <a:t>Tests right-to-left rendering and root-and-pattern morphology. Same root k-t-b → kataba (he wrote), kitāb (book), maktab (office). Cosine similarity should reflect this — but often does not.</a:t>
            </a:r>
          </a:p>
        </p:txBody>
      </p:sp>
      <p:sp>
        <p:nvSpPr>
          <p:cNvPr id="21" name="Rectangle 20"/>
          <p:cNvSpPr/>
          <p:nvPr/>
        </p:nvSpPr>
        <p:spPr>
          <a:xfrm>
            <a:off x="502920" y="4480560"/>
            <a:ext cx="11247120" cy="914400"/>
          </a:xfrm>
          <a:prstGeom prst="rect">
            <a:avLst/>
          </a:prstGeom>
          <a:solidFill>
            <a:srgbClr val="ECF2F7"/>
          </a:solidFill>
          <a:ln w="6350">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645152"/>
            <a:ext cx="868680" cy="594360"/>
          </a:xfrm>
          <a:prstGeom prst="rect">
            <a:avLst/>
          </a:prstGeom>
          <a:solidFill>
            <a:srgbClr val="8855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27448"/>
            <a:ext cx="868680" cy="457200"/>
          </a:xfrm>
          <a:prstGeom prst="rect">
            <a:avLst/>
          </a:prstGeom>
          <a:noFill/>
        </p:spPr>
        <p:txBody>
          <a:bodyPr wrap="square" lIns="0" rIns="0" tIns="0" bIns="0" anchor="t">
            <a:spAutoFit/>
          </a:bodyPr>
          <a:lstStyle/>
          <a:p>
            <a:pPr algn="ctr"/>
            <a:r>
              <a:rPr sz="2000" b="1" i="0">
                <a:solidFill>
                  <a:srgbClr val="FFFFFF"/>
                </a:solidFill>
                <a:latin typeface="Calibri"/>
              </a:rPr>
              <a:t>ML</a:t>
            </a:r>
          </a:p>
        </p:txBody>
      </p:sp>
      <p:sp>
        <p:nvSpPr>
          <p:cNvPr id="24" name="TextBox 23"/>
          <p:cNvSpPr txBox="1"/>
          <p:nvPr/>
        </p:nvSpPr>
        <p:spPr>
          <a:xfrm>
            <a:off x="1691640" y="4599432"/>
            <a:ext cx="2286000" cy="365760"/>
          </a:xfrm>
          <a:prstGeom prst="rect">
            <a:avLst/>
          </a:prstGeom>
          <a:noFill/>
        </p:spPr>
        <p:txBody>
          <a:bodyPr wrap="square" lIns="0" rIns="0" tIns="0" bIns="0" anchor="t">
            <a:spAutoFit/>
          </a:bodyPr>
          <a:lstStyle/>
          <a:p>
            <a:pPr algn="l"/>
            <a:r>
              <a:rPr sz="1400" b="1" i="0">
                <a:solidFill>
                  <a:srgbClr val="141E46"/>
                </a:solidFill>
                <a:latin typeface="Calibri"/>
              </a:rPr>
              <a:t>Malayalam</a:t>
            </a:r>
          </a:p>
        </p:txBody>
      </p:sp>
      <p:sp>
        <p:nvSpPr>
          <p:cNvPr id="25" name="TextBox 24"/>
          <p:cNvSpPr txBox="1"/>
          <p:nvPr/>
        </p:nvSpPr>
        <p:spPr>
          <a:xfrm>
            <a:off x="1691640" y="4956048"/>
            <a:ext cx="2468880" cy="365760"/>
          </a:xfrm>
          <a:prstGeom prst="rect">
            <a:avLst/>
          </a:prstGeom>
          <a:noFill/>
        </p:spPr>
        <p:txBody>
          <a:bodyPr wrap="square" lIns="0" rIns="0" tIns="0" bIns="0" anchor="t">
            <a:spAutoFit/>
          </a:bodyPr>
          <a:lstStyle/>
          <a:p>
            <a:pPr algn="l"/>
            <a:r>
              <a:rPr sz="1150" b="1" i="1">
                <a:solidFill>
                  <a:srgbClr val="88559D"/>
                </a:solidFill>
                <a:latin typeface="Calibri"/>
              </a:rPr>
              <a:t>Agglutination probe</a:t>
            </a:r>
          </a:p>
        </p:txBody>
      </p:sp>
      <p:sp>
        <p:nvSpPr>
          <p:cNvPr id="26" name="TextBox 25"/>
          <p:cNvSpPr txBox="1"/>
          <p:nvPr/>
        </p:nvSpPr>
        <p:spPr>
          <a:xfrm>
            <a:off x="4297680" y="4645152"/>
            <a:ext cx="7315200" cy="640080"/>
          </a:xfrm>
          <a:prstGeom prst="rect">
            <a:avLst/>
          </a:prstGeom>
          <a:noFill/>
        </p:spPr>
        <p:txBody>
          <a:bodyPr wrap="square" lIns="0" rIns="0" tIns="0" bIns="0" anchor="t">
            <a:spAutoFit/>
          </a:bodyPr>
          <a:lstStyle/>
          <a:p>
            <a:pPr algn="l"/>
            <a:r>
              <a:rPr sz="1150" b="0" i="0">
                <a:solidFill>
                  <a:srgbClr val="1A1E2A"/>
                </a:solidFill>
                <a:latin typeface="Calibri"/>
              </a:rPr>
              <a:t>Tests segmentation of extremely long word forms. A single Malayalam word can encode subject, object, tense, and politeness — the tokenizer must cut these compounds correctly.</a:t>
            </a:r>
          </a:p>
        </p:txBody>
      </p:sp>
      <p:sp>
        <p:nvSpPr>
          <p:cNvPr id="27" name="Rectangle 26"/>
          <p:cNvSpPr/>
          <p:nvPr/>
        </p:nvSpPr>
        <p:spPr>
          <a:xfrm>
            <a:off x="502920" y="5486400"/>
            <a:ext cx="11247120" cy="914400"/>
          </a:xfrm>
          <a:prstGeom prst="rect">
            <a:avLst/>
          </a:prstGeom>
          <a:solidFill>
            <a:srgbClr val="ECF2F7"/>
          </a:solidFill>
          <a:ln w="6350">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5650992"/>
            <a:ext cx="868680" cy="594360"/>
          </a:xfrm>
          <a:prstGeom prst="rect">
            <a:avLst/>
          </a:prstGeom>
          <a:solidFill>
            <a:srgbClr val="216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733288"/>
            <a:ext cx="868680" cy="457200"/>
          </a:xfrm>
          <a:prstGeom prst="rect">
            <a:avLst/>
          </a:prstGeom>
          <a:noFill/>
        </p:spPr>
        <p:txBody>
          <a:bodyPr wrap="square" lIns="0" rIns="0" tIns="0" bIns="0" anchor="t">
            <a:spAutoFit/>
          </a:bodyPr>
          <a:lstStyle/>
          <a:p>
            <a:pPr algn="ctr"/>
            <a:r>
              <a:rPr sz="2000" b="1" i="0">
                <a:solidFill>
                  <a:srgbClr val="FFFFFF"/>
                </a:solidFill>
                <a:latin typeface="Calibri"/>
              </a:rPr>
              <a:t>ZH</a:t>
            </a:r>
          </a:p>
        </p:txBody>
      </p:sp>
      <p:sp>
        <p:nvSpPr>
          <p:cNvPr id="30" name="TextBox 29"/>
          <p:cNvSpPr txBox="1"/>
          <p:nvPr/>
        </p:nvSpPr>
        <p:spPr>
          <a:xfrm>
            <a:off x="1691640" y="5605272"/>
            <a:ext cx="2286000" cy="365760"/>
          </a:xfrm>
          <a:prstGeom prst="rect">
            <a:avLst/>
          </a:prstGeom>
          <a:noFill/>
        </p:spPr>
        <p:txBody>
          <a:bodyPr wrap="square" lIns="0" rIns="0" tIns="0" bIns="0" anchor="t">
            <a:spAutoFit/>
          </a:bodyPr>
          <a:lstStyle/>
          <a:p>
            <a:pPr algn="l"/>
            <a:r>
              <a:rPr sz="1400" b="1" i="0">
                <a:solidFill>
                  <a:srgbClr val="141E46"/>
                </a:solidFill>
                <a:latin typeface="Calibri"/>
              </a:rPr>
              <a:t>Mandarin</a:t>
            </a:r>
          </a:p>
        </p:txBody>
      </p:sp>
      <p:sp>
        <p:nvSpPr>
          <p:cNvPr id="31" name="TextBox 30"/>
          <p:cNvSpPr txBox="1"/>
          <p:nvPr/>
        </p:nvSpPr>
        <p:spPr>
          <a:xfrm>
            <a:off x="1691640" y="5961888"/>
            <a:ext cx="2468880" cy="365760"/>
          </a:xfrm>
          <a:prstGeom prst="rect">
            <a:avLst/>
          </a:prstGeom>
          <a:noFill/>
        </p:spPr>
        <p:txBody>
          <a:bodyPr wrap="square" lIns="0" rIns="0" tIns="0" bIns="0" anchor="t">
            <a:spAutoFit/>
          </a:bodyPr>
          <a:lstStyle/>
          <a:p>
            <a:pPr algn="l"/>
            <a:r>
              <a:rPr sz="1150" b="1" i="1">
                <a:solidFill>
                  <a:srgbClr val="216C97"/>
                </a:solidFill>
                <a:latin typeface="Calibri"/>
              </a:rPr>
              <a:t>Word-boundary probe</a:t>
            </a:r>
          </a:p>
        </p:txBody>
      </p:sp>
      <p:sp>
        <p:nvSpPr>
          <p:cNvPr id="32" name="TextBox 31"/>
          <p:cNvSpPr txBox="1"/>
          <p:nvPr/>
        </p:nvSpPr>
        <p:spPr>
          <a:xfrm>
            <a:off x="4297680" y="5650992"/>
            <a:ext cx="7315200" cy="640080"/>
          </a:xfrm>
          <a:prstGeom prst="rect">
            <a:avLst/>
          </a:prstGeom>
          <a:noFill/>
        </p:spPr>
        <p:txBody>
          <a:bodyPr wrap="square" lIns="0" rIns="0" tIns="0" bIns="0" anchor="t">
            <a:spAutoFit/>
          </a:bodyPr>
          <a:lstStyle/>
          <a:p>
            <a:pPr algn="l"/>
            <a:r>
              <a:rPr sz="1150" b="0" i="0">
                <a:solidFill>
                  <a:srgbClr val="1A1E2A"/>
                </a:solidFill>
                <a:latin typeface="Calibri"/>
              </a:rPr>
              <a:t>Tests segmentation without whitespace. The model must decide where one word ends and the next begins, purely from character co-occurrence patterns.</a:t>
            </a:r>
          </a:p>
        </p:txBody>
      </p:sp>
      <p:sp>
        <p:nvSpPr>
          <p:cNvPr id="33" name="TextBox 32"/>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34" name="TextBox 33"/>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STRESS SAMPLE — SOURCES</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Two papers anchor the renaming and the language choice</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830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965960"/>
            <a:ext cx="640080" cy="640080"/>
          </a:xfrm>
          <a:prstGeom prst="ellipse">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29968"/>
            <a:ext cx="640080" cy="548640"/>
          </a:xfrm>
          <a:prstGeom prst="rect">
            <a:avLst/>
          </a:prstGeom>
          <a:noFill/>
        </p:spPr>
        <p:txBody>
          <a:bodyPr wrap="square" lIns="0" rIns="0" tIns="0" bIns="0" anchor="t">
            <a:spAutoFit/>
          </a:bodyPr>
          <a:lstStyle/>
          <a:p>
            <a:pPr algn="ctr"/>
            <a:r>
              <a:rPr sz="2200" b="1" i="0">
                <a:solidFill>
                  <a:srgbClr val="FFFFFF"/>
                </a:solidFill>
                <a:latin typeface="Calibri"/>
              </a:rPr>
              <a:t>1</a:t>
            </a:r>
          </a:p>
        </p:txBody>
      </p:sp>
      <p:sp>
        <p:nvSpPr>
          <p:cNvPr id="10" name="TextBox 9"/>
          <p:cNvSpPr txBox="1"/>
          <p:nvPr/>
        </p:nvSpPr>
        <p:spPr>
          <a:xfrm>
            <a:off x="1463040" y="1947672"/>
            <a:ext cx="10149840" cy="594360"/>
          </a:xfrm>
          <a:prstGeom prst="rect">
            <a:avLst/>
          </a:prstGeom>
          <a:noFill/>
        </p:spPr>
        <p:txBody>
          <a:bodyPr wrap="square" lIns="0" rIns="0" tIns="0" bIns="0" anchor="t">
            <a:spAutoFit/>
          </a:bodyPr>
          <a:lstStyle/>
          <a:p>
            <a:pPr algn="l"/>
            <a:r>
              <a:rPr sz="1350" b="1" i="0">
                <a:solidFill>
                  <a:srgbClr val="141E46"/>
                </a:solidFill>
                <a:latin typeface="Calibri"/>
              </a:rPr>
              <a:t>Joshi et al. (2020). The State and Fate of Linguistic Diversity in the NLP World — ACL 2020.</a:t>
            </a:r>
          </a:p>
        </p:txBody>
      </p:sp>
      <p:sp>
        <p:nvSpPr>
          <p:cNvPr id="11" name="TextBox 10"/>
          <p:cNvSpPr txBox="1"/>
          <p:nvPr/>
        </p:nvSpPr>
        <p:spPr>
          <a:xfrm>
            <a:off x="1463040" y="2560320"/>
            <a:ext cx="10149840" cy="365760"/>
          </a:xfrm>
          <a:prstGeom prst="rect">
            <a:avLst/>
          </a:prstGeom>
          <a:noFill/>
        </p:spPr>
        <p:txBody>
          <a:bodyPr wrap="square" lIns="0" rIns="0" tIns="0" bIns="0" anchor="t">
            <a:spAutoFit/>
          </a:bodyPr>
          <a:lstStyle/>
          <a:p>
            <a:pPr algn="l"/>
            <a:r>
              <a:rPr sz="1100" b="1" i="0">
                <a:solidFill>
                  <a:srgbClr val="0A4E7A"/>
                </a:solidFill>
                <a:latin typeface="Calibri"/>
              </a:rPr>
              <a:t>Why this source backs the cluster</a:t>
            </a:r>
          </a:p>
        </p:txBody>
      </p:sp>
      <p:sp>
        <p:nvSpPr>
          <p:cNvPr id="12" name="TextBox 11"/>
          <p:cNvSpPr txBox="1"/>
          <p:nvPr/>
        </p:nvSpPr>
        <p:spPr>
          <a:xfrm>
            <a:off x="1463040" y="28803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0A4E7A"/>
                </a:solidFill>
                <a:latin typeface="Calibri"/>
              </a:rPr>
              <a:t>•  </a:t>
            </a:r>
            <a:r>
              <a:rPr sz="1200">
                <a:solidFill>
                  <a:srgbClr val="1A1E2A"/>
                </a:solidFill>
                <a:latin typeface="Calibri"/>
              </a:rPr>
              <a:t>Classifies languages by how much training data exists for them.</a:t>
            </a:r>
          </a:p>
          <a:p>
            <a:pPr algn="l">
              <a:spcBef>
                <a:spcPts val="0"/>
              </a:spcBef>
              <a:spcAft>
                <a:spcPts val="400"/>
              </a:spcAft>
            </a:pPr>
            <a:r>
              <a:rPr sz="1200" b="1">
                <a:solidFill>
                  <a:srgbClr val="0A4E7A"/>
                </a:solidFill>
                <a:latin typeface="Calibri"/>
              </a:rPr>
              <a:t>•  </a:t>
            </a:r>
            <a:r>
              <a:rPr sz="1200">
                <a:solidFill>
                  <a:srgbClr val="1A1E2A"/>
                </a:solidFill>
                <a:latin typeface="Calibri"/>
              </a:rPr>
              <a:t>Tells us Malayalam is Class 1 (low-resource), while Arabic and Mandarin are Class 5 (winners).</a:t>
            </a:r>
          </a:p>
          <a:p>
            <a:pPr algn="l">
              <a:spcBef>
                <a:spcPts val="0"/>
              </a:spcBef>
              <a:spcAft>
                <a:spcPts val="400"/>
              </a:spcAft>
            </a:pPr>
            <a:r>
              <a:rPr sz="1200" b="1">
                <a:solidFill>
                  <a:srgbClr val="0A4E7A"/>
                </a:solidFill>
                <a:latin typeface="Calibri"/>
              </a:rPr>
              <a:t>•  </a:t>
            </a:r>
            <a:r>
              <a:rPr sz="1200">
                <a:solidFill>
                  <a:srgbClr val="1A1E2A"/>
                </a:solidFill>
                <a:latin typeface="Calibri"/>
              </a:rPr>
              <a:t>Lets us say our sample stresses both typology AND resource gap.</a:t>
            </a:r>
          </a:p>
        </p:txBody>
      </p:sp>
      <p:sp>
        <p:nvSpPr>
          <p:cNvPr id="13" name="Rectangle 12"/>
          <p:cNvSpPr/>
          <p:nvPr/>
        </p:nvSpPr>
        <p:spPr>
          <a:xfrm>
            <a:off x="502920" y="3840480"/>
            <a:ext cx="11247120" cy="182880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023360"/>
            <a:ext cx="640080" cy="640080"/>
          </a:xfrm>
          <a:prstGeom prst="ellipse">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87368"/>
            <a:ext cx="640080" cy="548640"/>
          </a:xfrm>
          <a:prstGeom prst="rect">
            <a:avLst/>
          </a:prstGeom>
          <a:noFill/>
        </p:spPr>
        <p:txBody>
          <a:bodyPr wrap="square" lIns="0" rIns="0" tIns="0" bIns="0" anchor="t">
            <a:spAutoFit/>
          </a:bodyPr>
          <a:lstStyle/>
          <a:p>
            <a:pPr algn="ctr"/>
            <a:r>
              <a:rPr sz="2200" b="1" i="0">
                <a:solidFill>
                  <a:srgbClr val="FFFFFF"/>
                </a:solidFill>
                <a:latin typeface="Calibri"/>
              </a:rPr>
              <a:t>2</a:t>
            </a:r>
          </a:p>
        </p:txBody>
      </p:sp>
      <p:sp>
        <p:nvSpPr>
          <p:cNvPr id="16" name="TextBox 15"/>
          <p:cNvSpPr txBox="1"/>
          <p:nvPr/>
        </p:nvSpPr>
        <p:spPr>
          <a:xfrm>
            <a:off x="1463040" y="4005072"/>
            <a:ext cx="10149840" cy="594360"/>
          </a:xfrm>
          <a:prstGeom prst="rect">
            <a:avLst/>
          </a:prstGeom>
          <a:noFill/>
        </p:spPr>
        <p:txBody>
          <a:bodyPr wrap="square" lIns="0" rIns="0" tIns="0" bIns="0" anchor="t">
            <a:spAutoFit/>
          </a:bodyPr>
          <a:lstStyle/>
          <a:p>
            <a:pPr algn="l"/>
            <a:r>
              <a:rPr sz="1350" b="1" i="0">
                <a:solidFill>
                  <a:srgbClr val="141E46"/>
                </a:solidFill>
                <a:latin typeface="Calibri"/>
              </a:rPr>
              <a:t>Ploeger et al. (2024). What is "Typological Diversity" in NLP? — EMNLP 2024.</a:t>
            </a:r>
          </a:p>
        </p:txBody>
      </p:sp>
      <p:sp>
        <p:nvSpPr>
          <p:cNvPr id="17" name="TextBox 16"/>
          <p:cNvSpPr txBox="1"/>
          <p:nvPr/>
        </p:nvSpPr>
        <p:spPr>
          <a:xfrm>
            <a:off x="1463040" y="4617720"/>
            <a:ext cx="10149840" cy="365760"/>
          </a:xfrm>
          <a:prstGeom prst="rect">
            <a:avLst/>
          </a:prstGeom>
          <a:noFill/>
        </p:spPr>
        <p:txBody>
          <a:bodyPr wrap="square" lIns="0" rIns="0" tIns="0" bIns="0" anchor="t">
            <a:spAutoFit/>
          </a:bodyPr>
          <a:lstStyle/>
          <a:p>
            <a:pPr algn="l"/>
            <a:r>
              <a:rPr sz="1100" b="1" i="0">
                <a:solidFill>
                  <a:srgbClr val="0A4E7A"/>
                </a:solidFill>
                <a:latin typeface="Calibri"/>
              </a:rPr>
              <a:t>Why this source backs the cluster</a:t>
            </a:r>
          </a:p>
        </p:txBody>
      </p:sp>
      <p:sp>
        <p:nvSpPr>
          <p:cNvPr id="18" name="TextBox 17"/>
          <p:cNvSpPr txBox="1"/>
          <p:nvPr/>
        </p:nvSpPr>
        <p:spPr>
          <a:xfrm>
            <a:off x="1463040" y="4937760"/>
            <a:ext cx="10149840" cy="685800"/>
          </a:xfrm>
          <a:prstGeom prst="rect">
            <a:avLst/>
          </a:prstGeom>
          <a:noFill/>
        </p:spPr>
        <p:txBody>
          <a:bodyPr wrap="square" lIns="0" rIns="0" tIns="0" bIns="0" anchor="t">
            <a:spAutoFit/>
          </a:bodyPr>
          <a:lstStyle/>
          <a:p>
            <a:pPr algn="l">
              <a:spcBef>
                <a:spcPts val="0"/>
              </a:spcBef>
              <a:spcAft>
                <a:spcPts val="400"/>
              </a:spcAft>
            </a:pPr>
            <a:r>
              <a:rPr sz="1200" b="0" i="0">
                <a:solidFill>
                  <a:srgbClr val="1A1E2A"/>
                </a:solidFill>
                <a:latin typeface="Calibri"/>
              </a:rPr>
              <a:t/>
            </a:r>
            <a:r>
              <a:rPr sz="1200" b="1">
                <a:solidFill>
                  <a:srgbClr val="0A4E7A"/>
                </a:solidFill>
                <a:latin typeface="Calibri"/>
              </a:rPr>
              <a:t>•  </a:t>
            </a:r>
            <a:r>
              <a:rPr sz="1200">
                <a:solidFill>
                  <a:srgbClr val="1A1E2A"/>
                </a:solidFill>
                <a:latin typeface="Calibri"/>
              </a:rPr>
              <a:t>Critical paper — argues that language family is a weak proxy for actual diversity.</a:t>
            </a:r>
          </a:p>
          <a:p>
            <a:pPr algn="l">
              <a:spcBef>
                <a:spcPts val="0"/>
              </a:spcBef>
              <a:spcAft>
                <a:spcPts val="400"/>
              </a:spcAft>
            </a:pPr>
            <a:r>
              <a:rPr sz="1200" b="1">
                <a:solidFill>
                  <a:srgbClr val="0A4E7A"/>
                </a:solidFill>
                <a:latin typeface="Calibri"/>
              </a:rPr>
              <a:t>•  </a:t>
            </a:r>
            <a:r>
              <a:rPr sz="1200">
                <a:solidFill>
                  <a:srgbClr val="1A1E2A"/>
                </a:solidFill>
                <a:latin typeface="Calibri"/>
              </a:rPr>
              <a:t>Our renaming "Cluster" → "Stress Sample" is the direct response.</a:t>
            </a:r>
          </a:p>
          <a:p>
            <a:pPr algn="l">
              <a:spcBef>
                <a:spcPts val="0"/>
              </a:spcBef>
              <a:spcAft>
                <a:spcPts val="400"/>
              </a:spcAft>
            </a:pPr>
            <a:r>
              <a:rPr sz="1200" b="1">
                <a:solidFill>
                  <a:srgbClr val="0A4E7A"/>
                </a:solidFill>
                <a:latin typeface="Calibri"/>
              </a:rPr>
              <a:t>•  </a:t>
            </a:r>
            <a:r>
              <a:rPr sz="1200">
                <a:solidFill>
                  <a:srgbClr val="1A1E2A"/>
                </a:solidFill>
                <a:latin typeface="Calibri"/>
              </a:rPr>
              <a:t>Citing it shows we built the design knowing the recent critical literature.</a:t>
            </a:r>
          </a:p>
        </p:txBody>
      </p:sp>
      <p:sp>
        <p:nvSpPr>
          <p:cNvPr id="19" name="TextBox 18"/>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0" name="TextBox 19"/>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OVERVIEW</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The four-stratum sampling scheme</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91640"/>
            <a:ext cx="2788920" cy="4160520"/>
          </a:xfrm>
          <a:prstGeom prst="rect">
            <a:avLst/>
          </a:prstGeom>
          <a:solidFill>
            <a:srgbClr val="ECF2F7"/>
          </a:solidFill>
          <a:ln w="19050">
            <a:solidFill>
              <a:srgbClr val="0A4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91640"/>
            <a:ext cx="2788920" cy="50292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2423160" cy="365760"/>
          </a:xfrm>
          <a:prstGeom prst="rect">
            <a:avLst/>
          </a:prstGeom>
          <a:noFill/>
        </p:spPr>
        <p:txBody>
          <a:bodyPr wrap="square" lIns="0" rIns="0" tIns="0" bIns="0" anchor="t">
            <a:spAutoFit/>
          </a:bodyPr>
          <a:lstStyle/>
          <a:p>
            <a:pPr algn="l"/>
            <a:r>
              <a:rPr sz="1500" b="1" i="0">
                <a:solidFill>
                  <a:srgbClr val="FFFFFF"/>
                </a:solidFill>
                <a:latin typeface="Calibri"/>
              </a:rPr>
              <a:t>Cluster 1</a:t>
            </a:r>
          </a:p>
        </p:txBody>
      </p:sp>
      <p:sp>
        <p:nvSpPr>
          <p:cNvPr id="10" name="TextBox 9"/>
          <p:cNvSpPr txBox="1"/>
          <p:nvPr/>
        </p:nvSpPr>
        <p:spPr>
          <a:xfrm>
            <a:off x="685800" y="2331720"/>
            <a:ext cx="2423160" cy="411480"/>
          </a:xfrm>
          <a:prstGeom prst="rect">
            <a:avLst/>
          </a:prstGeom>
          <a:noFill/>
        </p:spPr>
        <p:txBody>
          <a:bodyPr wrap="square" lIns="0" rIns="0" tIns="0" bIns="0" anchor="t">
            <a:spAutoFit/>
          </a:bodyPr>
          <a:lstStyle/>
          <a:p>
            <a:pPr algn="l"/>
            <a:r>
              <a:rPr sz="2000" b="1" i="0">
                <a:solidFill>
                  <a:srgbClr val="141E46"/>
                </a:solidFill>
                <a:latin typeface="Calibri"/>
              </a:rPr>
              <a:t>Germanic</a:t>
            </a:r>
          </a:p>
        </p:txBody>
      </p:sp>
      <p:sp>
        <p:nvSpPr>
          <p:cNvPr id="11" name="TextBox 10"/>
          <p:cNvSpPr txBox="1"/>
          <p:nvPr/>
        </p:nvSpPr>
        <p:spPr>
          <a:xfrm>
            <a:off x="685800" y="2834640"/>
            <a:ext cx="2423160" cy="548640"/>
          </a:xfrm>
          <a:prstGeom prst="rect">
            <a:avLst/>
          </a:prstGeom>
          <a:noFill/>
        </p:spPr>
        <p:txBody>
          <a:bodyPr wrap="square" lIns="0" rIns="0" tIns="0" bIns="0" anchor="t">
            <a:spAutoFit/>
          </a:bodyPr>
          <a:lstStyle/>
          <a:p>
            <a:pPr algn="l"/>
            <a:r>
              <a:rPr sz="1300" b="0" i="1">
                <a:solidFill>
                  <a:srgbClr val="0A4E7A"/>
                </a:solidFill>
                <a:latin typeface="Calibri"/>
              </a:rPr>
              <a:t>EN  ·  DE</a:t>
            </a:r>
          </a:p>
        </p:txBody>
      </p:sp>
      <p:sp>
        <p:nvSpPr>
          <p:cNvPr id="12" name="Rectangle 11"/>
          <p:cNvSpPr/>
          <p:nvPr/>
        </p:nvSpPr>
        <p:spPr>
          <a:xfrm>
            <a:off x="685800" y="3520440"/>
            <a:ext cx="2423160" cy="36576"/>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03320"/>
            <a:ext cx="2423160" cy="2103120"/>
          </a:xfrm>
          <a:prstGeom prst="rect">
            <a:avLst/>
          </a:prstGeom>
          <a:noFill/>
        </p:spPr>
        <p:txBody>
          <a:bodyPr wrap="square" lIns="0" rIns="0" tIns="0" bIns="0" anchor="t">
            <a:spAutoFit/>
          </a:bodyPr>
          <a:lstStyle/>
          <a:p>
            <a:pPr algn="l"/>
            <a:r>
              <a:rPr sz="1200" b="0" i="0">
                <a:solidFill>
                  <a:srgbClr val="1A1E2A"/>
                </a:solidFill>
                <a:latin typeface="Calibri"/>
              </a:rPr>
              <a:t>Same family, easy.
Baseline floor.</a:t>
            </a:r>
          </a:p>
        </p:txBody>
      </p:sp>
      <p:sp>
        <p:nvSpPr>
          <p:cNvPr id="14" name="Rectangle 13"/>
          <p:cNvSpPr/>
          <p:nvPr/>
        </p:nvSpPr>
        <p:spPr>
          <a:xfrm>
            <a:off x="3429000" y="1691640"/>
            <a:ext cx="2788920" cy="4160520"/>
          </a:xfrm>
          <a:prstGeom prst="rect">
            <a:avLst/>
          </a:prstGeom>
          <a:solidFill>
            <a:srgbClr val="ECF2F7"/>
          </a:solidFill>
          <a:ln w="19050">
            <a:solidFill>
              <a:srgbClr val="1F7A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691640"/>
            <a:ext cx="2788920" cy="502920"/>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1783080"/>
            <a:ext cx="2423160" cy="365760"/>
          </a:xfrm>
          <a:prstGeom prst="rect">
            <a:avLst/>
          </a:prstGeom>
          <a:noFill/>
        </p:spPr>
        <p:txBody>
          <a:bodyPr wrap="square" lIns="0" rIns="0" tIns="0" bIns="0" anchor="t">
            <a:spAutoFit/>
          </a:bodyPr>
          <a:lstStyle/>
          <a:p>
            <a:pPr algn="l"/>
            <a:r>
              <a:rPr sz="1500" b="1" i="0">
                <a:solidFill>
                  <a:srgbClr val="FFFFFF"/>
                </a:solidFill>
                <a:latin typeface="Calibri"/>
              </a:rPr>
              <a:t>Cluster 2</a:t>
            </a:r>
          </a:p>
        </p:txBody>
      </p:sp>
      <p:sp>
        <p:nvSpPr>
          <p:cNvPr id="17" name="TextBox 16"/>
          <p:cNvSpPr txBox="1"/>
          <p:nvPr/>
        </p:nvSpPr>
        <p:spPr>
          <a:xfrm>
            <a:off x="3611880" y="2331720"/>
            <a:ext cx="2423160" cy="411480"/>
          </a:xfrm>
          <a:prstGeom prst="rect">
            <a:avLst/>
          </a:prstGeom>
          <a:noFill/>
        </p:spPr>
        <p:txBody>
          <a:bodyPr wrap="square" lIns="0" rIns="0" tIns="0" bIns="0" anchor="t">
            <a:spAutoFit/>
          </a:bodyPr>
          <a:lstStyle/>
          <a:p>
            <a:pPr algn="l"/>
            <a:r>
              <a:rPr sz="2000" b="1" i="0">
                <a:solidFill>
                  <a:srgbClr val="141E46"/>
                </a:solidFill>
                <a:latin typeface="Calibri"/>
              </a:rPr>
              <a:t>Romance</a:t>
            </a:r>
          </a:p>
        </p:txBody>
      </p:sp>
      <p:sp>
        <p:nvSpPr>
          <p:cNvPr id="18" name="TextBox 17"/>
          <p:cNvSpPr txBox="1"/>
          <p:nvPr/>
        </p:nvSpPr>
        <p:spPr>
          <a:xfrm>
            <a:off x="3611880" y="2834640"/>
            <a:ext cx="2423160" cy="548640"/>
          </a:xfrm>
          <a:prstGeom prst="rect">
            <a:avLst/>
          </a:prstGeom>
          <a:noFill/>
        </p:spPr>
        <p:txBody>
          <a:bodyPr wrap="square" lIns="0" rIns="0" tIns="0" bIns="0" anchor="t">
            <a:spAutoFit/>
          </a:bodyPr>
          <a:lstStyle/>
          <a:p>
            <a:pPr algn="l"/>
            <a:r>
              <a:rPr sz="1300" b="0" i="1">
                <a:solidFill>
                  <a:srgbClr val="0A4E7A"/>
                </a:solidFill>
                <a:latin typeface="Calibri"/>
              </a:rPr>
              <a:t>ES  ·  FR  ·  (IT)</a:t>
            </a:r>
          </a:p>
        </p:txBody>
      </p:sp>
      <p:sp>
        <p:nvSpPr>
          <p:cNvPr id="19" name="Rectangle 18"/>
          <p:cNvSpPr/>
          <p:nvPr/>
        </p:nvSpPr>
        <p:spPr>
          <a:xfrm>
            <a:off x="3611880" y="3520440"/>
            <a:ext cx="2423160" cy="36576"/>
          </a:xfrm>
          <a:prstGeom prst="rect">
            <a:avLst/>
          </a:prstGeom>
          <a:solidFill>
            <a:srgbClr val="1F7A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703320"/>
            <a:ext cx="2423160" cy="2103120"/>
          </a:xfrm>
          <a:prstGeom prst="rect">
            <a:avLst/>
          </a:prstGeom>
          <a:noFill/>
        </p:spPr>
        <p:txBody>
          <a:bodyPr wrap="square" lIns="0" rIns="0" tIns="0" bIns="0" anchor="t">
            <a:spAutoFit/>
          </a:bodyPr>
          <a:lstStyle/>
          <a:p>
            <a:pPr algn="l"/>
            <a:r>
              <a:rPr sz="1200" b="0" i="0">
                <a:solidFill>
                  <a:srgbClr val="1A1E2A"/>
                </a:solidFill>
                <a:latin typeface="Calibri"/>
              </a:rPr>
              <a:t>Same script, gender +
verb endings.</a:t>
            </a:r>
          </a:p>
        </p:txBody>
      </p:sp>
      <p:sp>
        <p:nvSpPr>
          <p:cNvPr id="21" name="Rectangle 20"/>
          <p:cNvSpPr/>
          <p:nvPr/>
        </p:nvSpPr>
        <p:spPr>
          <a:xfrm>
            <a:off x="6355080" y="1691640"/>
            <a:ext cx="2788920" cy="4160520"/>
          </a:xfrm>
          <a:prstGeom prst="rect">
            <a:avLst/>
          </a:prstGeom>
          <a:solidFill>
            <a:srgbClr val="ECF2F7"/>
          </a:solidFill>
          <a:ln w="19050">
            <a:solidFill>
              <a:srgbClr val="E09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1691640"/>
            <a:ext cx="2788920" cy="50292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1783080"/>
            <a:ext cx="2423160" cy="365760"/>
          </a:xfrm>
          <a:prstGeom prst="rect">
            <a:avLst/>
          </a:prstGeom>
          <a:noFill/>
        </p:spPr>
        <p:txBody>
          <a:bodyPr wrap="square" lIns="0" rIns="0" tIns="0" bIns="0" anchor="t">
            <a:spAutoFit/>
          </a:bodyPr>
          <a:lstStyle/>
          <a:p>
            <a:pPr algn="l"/>
            <a:r>
              <a:rPr sz="1500" b="1" i="0">
                <a:solidFill>
                  <a:srgbClr val="FFFFFF"/>
                </a:solidFill>
                <a:latin typeface="Calibri"/>
              </a:rPr>
              <a:t>Cluster 3</a:t>
            </a:r>
          </a:p>
        </p:txBody>
      </p:sp>
      <p:sp>
        <p:nvSpPr>
          <p:cNvPr id="24" name="TextBox 23"/>
          <p:cNvSpPr txBox="1"/>
          <p:nvPr/>
        </p:nvSpPr>
        <p:spPr>
          <a:xfrm>
            <a:off x="6537960" y="2331720"/>
            <a:ext cx="2423160" cy="411480"/>
          </a:xfrm>
          <a:prstGeom prst="rect">
            <a:avLst/>
          </a:prstGeom>
          <a:noFill/>
        </p:spPr>
        <p:txBody>
          <a:bodyPr wrap="square" lIns="0" rIns="0" tIns="0" bIns="0" anchor="t">
            <a:spAutoFit/>
          </a:bodyPr>
          <a:lstStyle/>
          <a:p>
            <a:pPr algn="l"/>
            <a:r>
              <a:rPr sz="2000" b="1" i="0">
                <a:solidFill>
                  <a:srgbClr val="141E46"/>
                </a:solidFill>
                <a:latin typeface="Calibri"/>
              </a:rPr>
              <a:t>Slavic</a:t>
            </a:r>
          </a:p>
        </p:txBody>
      </p:sp>
      <p:sp>
        <p:nvSpPr>
          <p:cNvPr id="25" name="TextBox 24"/>
          <p:cNvSpPr txBox="1"/>
          <p:nvPr/>
        </p:nvSpPr>
        <p:spPr>
          <a:xfrm>
            <a:off x="6537960" y="2834640"/>
            <a:ext cx="2423160" cy="548640"/>
          </a:xfrm>
          <a:prstGeom prst="rect">
            <a:avLst/>
          </a:prstGeom>
          <a:noFill/>
        </p:spPr>
        <p:txBody>
          <a:bodyPr wrap="square" lIns="0" rIns="0" tIns="0" bIns="0" anchor="t">
            <a:spAutoFit/>
          </a:bodyPr>
          <a:lstStyle/>
          <a:p>
            <a:pPr algn="l"/>
            <a:r>
              <a:rPr sz="1300" b="0" i="1">
                <a:solidFill>
                  <a:srgbClr val="0A4E7A"/>
                </a:solidFill>
                <a:latin typeface="Calibri"/>
              </a:rPr>
              <a:t>PL  ·  HBS</a:t>
            </a:r>
          </a:p>
        </p:txBody>
      </p:sp>
      <p:sp>
        <p:nvSpPr>
          <p:cNvPr id="26" name="Rectangle 25"/>
          <p:cNvSpPr/>
          <p:nvPr/>
        </p:nvSpPr>
        <p:spPr>
          <a:xfrm>
            <a:off x="6537960" y="3520440"/>
            <a:ext cx="242316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3703320"/>
            <a:ext cx="2423160" cy="2103120"/>
          </a:xfrm>
          <a:prstGeom prst="rect">
            <a:avLst/>
          </a:prstGeom>
          <a:noFill/>
        </p:spPr>
        <p:txBody>
          <a:bodyPr wrap="square" lIns="0" rIns="0" tIns="0" bIns="0" anchor="t">
            <a:spAutoFit/>
          </a:bodyPr>
          <a:lstStyle/>
          <a:p>
            <a:pPr algn="l"/>
            <a:r>
              <a:rPr sz="1200" b="0" i="0">
                <a:solidFill>
                  <a:srgbClr val="1A1E2A"/>
                </a:solidFill>
                <a:latin typeface="Calibri"/>
              </a:rPr>
              <a:t>Case-heavy.
Persian dropped.</a:t>
            </a:r>
          </a:p>
        </p:txBody>
      </p:sp>
      <p:sp>
        <p:nvSpPr>
          <p:cNvPr id="28" name="Rectangle 27"/>
          <p:cNvSpPr/>
          <p:nvPr/>
        </p:nvSpPr>
        <p:spPr>
          <a:xfrm>
            <a:off x="9281160" y="1691640"/>
            <a:ext cx="2788920" cy="4160520"/>
          </a:xfrm>
          <a:prstGeom prst="rect">
            <a:avLst/>
          </a:prstGeom>
          <a:solidFill>
            <a:srgbClr val="ECF2F7"/>
          </a:solidFill>
          <a:ln w="19050">
            <a:solidFill>
              <a:srgbClr val="141E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81160" y="1691640"/>
            <a:ext cx="2788920" cy="502920"/>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64040" y="1783080"/>
            <a:ext cx="2423160" cy="365760"/>
          </a:xfrm>
          <a:prstGeom prst="rect">
            <a:avLst/>
          </a:prstGeom>
          <a:noFill/>
        </p:spPr>
        <p:txBody>
          <a:bodyPr wrap="square" lIns="0" rIns="0" tIns="0" bIns="0" anchor="t">
            <a:spAutoFit/>
          </a:bodyPr>
          <a:lstStyle/>
          <a:p>
            <a:pPr algn="l"/>
            <a:r>
              <a:rPr sz="1500" b="1" i="0">
                <a:solidFill>
                  <a:srgbClr val="FFFFFF"/>
                </a:solidFill>
                <a:latin typeface="Calibri"/>
              </a:rPr>
              <a:t>Stress Sample</a:t>
            </a:r>
          </a:p>
        </p:txBody>
      </p:sp>
      <p:sp>
        <p:nvSpPr>
          <p:cNvPr id="31" name="TextBox 30"/>
          <p:cNvSpPr txBox="1"/>
          <p:nvPr/>
        </p:nvSpPr>
        <p:spPr>
          <a:xfrm>
            <a:off x="9464040" y="2331720"/>
            <a:ext cx="2423160" cy="411480"/>
          </a:xfrm>
          <a:prstGeom prst="rect">
            <a:avLst/>
          </a:prstGeom>
          <a:noFill/>
        </p:spPr>
        <p:txBody>
          <a:bodyPr wrap="square" lIns="0" rIns="0" tIns="0" bIns="0" anchor="t">
            <a:spAutoFit/>
          </a:bodyPr>
          <a:lstStyle/>
          <a:p>
            <a:pPr algn="l"/>
            <a:r>
              <a:rPr sz="2000" b="1" i="0">
                <a:solidFill>
                  <a:srgbClr val="141E46"/>
                </a:solidFill>
                <a:latin typeface="Calibri"/>
              </a:rPr>
              <a:t>Non-IE</a:t>
            </a:r>
          </a:p>
        </p:txBody>
      </p:sp>
      <p:sp>
        <p:nvSpPr>
          <p:cNvPr id="32" name="TextBox 31"/>
          <p:cNvSpPr txBox="1"/>
          <p:nvPr/>
        </p:nvSpPr>
        <p:spPr>
          <a:xfrm>
            <a:off x="9464040" y="2834640"/>
            <a:ext cx="2423160" cy="548640"/>
          </a:xfrm>
          <a:prstGeom prst="rect">
            <a:avLst/>
          </a:prstGeom>
          <a:noFill/>
        </p:spPr>
        <p:txBody>
          <a:bodyPr wrap="square" lIns="0" rIns="0" tIns="0" bIns="0" anchor="t">
            <a:spAutoFit/>
          </a:bodyPr>
          <a:lstStyle/>
          <a:p>
            <a:pPr algn="l"/>
            <a:r>
              <a:rPr sz="1300" b="0" i="1">
                <a:solidFill>
                  <a:srgbClr val="0A4E7A"/>
                </a:solidFill>
                <a:latin typeface="Calibri"/>
              </a:rPr>
              <a:t>HI  ·  AR  ·  ML  ·  ZH</a:t>
            </a:r>
          </a:p>
        </p:txBody>
      </p:sp>
      <p:sp>
        <p:nvSpPr>
          <p:cNvPr id="33" name="Rectangle 32"/>
          <p:cNvSpPr/>
          <p:nvPr/>
        </p:nvSpPr>
        <p:spPr>
          <a:xfrm>
            <a:off x="9464040" y="3520440"/>
            <a:ext cx="2423160" cy="36576"/>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3703320"/>
            <a:ext cx="2423160" cy="2103120"/>
          </a:xfrm>
          <a:prstGeom prst="rect">
            <a:avLst/>
          </a:prstGeom>
          <a:noFill/>
        </p:spPr>
        <p:txBody>
          <a:bodyPr wrap="square" lIns="0" rIns="0" tIns="0" bIns="0" anchor="t">
            <a:spAutoFit/>
          </a:bodyPr>
          <a:lstStyle/>
          <a:p>
            <a:pPr algn="l"/>
            <a:r>
              <a:rPr sz="1200" b="0" i="0">
                <a:solidFill>
                  <a:srgbClr val="1A1E2A"/>
                </a:solidFill>
                <a:latin typeface="Calibri"/>
              </a:rPr>
              <a:t>Four orthogonal
typological probes.</a:t>
            </a:r>
          </a:p>
        </p:txBody>
      </p:sp>
      <p:sp>
        <p:nvSpPr>
          <p:cNvPr id="35" name="Rectangle 34"/>
          <p:cNvSpPr/>
          <p:nvPr/>
        </p:nvSpPr>
        <p:spPr>
          <a:xfrm>
            <a:off x="502920" y="5989320"/>
            <a:ext cx="11247120" cy="411480"/>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053328"/>
            <a:ext cx="10972800" cy="320040"/>
          </a:xfrm>
          <a:prstGeom prst="rect">
            <a:avLst/>
          </a:prstGeom>
          <a:noFill/>
        </p:spPr>
        <p:txBody>
          <a:bodyPr wrap="square" lIns="0" rIns="0" tIns="0" bIns="0" anchor="t">
            <a:spAutoFit/>
          </a:bodyPr>
          <a:lstStyle/>
          <a:p>
            <a:pPr algn="l"/>
            <a:r>
              <a:rPr sz="1150" b="1" i="1">
                <a:solidFill>
                  <a:srgbClr val="FFFFFF"/>
                </a:solidFill>
                <a:latin typeface="Calibri"/>
              </a:rPr>
              <a:t>Three IE family clusters set the floor  +  one non-IE Stress Sample sets the ceiling for typological challenge</a:t>
            </a:r>
          </a:p>
        </p:txBody>
      </p:sp>
      <p:sp>
        <p:nvSpPr>
          <p:cNvPr id="37" name="TextBox 36"/>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38" name="TextBox 37"/>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164592" cy="164592"/>
          </a:xfrm>
          <a:prstGeom prst="ellipse">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058400" cy="320040"/>
          </a:xfrm>
          <a:prstGeom prst="rect">
            <a:avLst/>
          </a:prstGeom>
          <a:noFill/>
        </p:spPr>
        <p:txBody>
          <a:bodyPr wrap="square" lIns="0" rIns="0" tIns="0" bIns="0" anchor="t">
            <a:spAutoFit/>
          </a:bodyPr>
          <a:lstStyle/>
          <a:p>
            <a:pPr algn="l"/>
            <a:r>
              <a:rPr sz="1100" b="1" i="0">
                <a:solidFill>
                  <a:srgbClr val="E09A36"/>
                </a:solidFill>
                <a:latin typeface="Calibri"/>
              </a:rPr>
              <a:t>FURTHER TESTING</a:t>
            </a:r>
          </a:p>
        </p:txBody>
      </p:sp>
      <p:sp>
        <p:nvSpPr>
          <p:cNvPr id="5" name="TextBox 4"/>
          <p:cNvSpPr txBox="1"/>
          <p:nvPr/>
        </p:nvSpPr>
        <p:spPr>
          <a:xfrm>
            <a:off x="502920" y="685800"/>
            <a:ext cx="11155680" cy="777240"/>
          </a:xfrm>
          <a:prstGeom prst="rect">
            <a:avLst/>
          </a:prstGeom>
          <a:noFill/>
        </p:spPr>
        <p:txBody>
          <a:bodyPr wrap="square" lIns="0" rIns="0" tIns="0" bIns="0" anchor="t">
            <a:spAutoFit/>
          </a:bodyPr>
          <a:lstStyle/>
          <a:p>
            <a:pPr algn="l"/>
            <a:r>
              <a:rPr sz="3000" b="1" i="0">
                <a:solidFill>
                  <a:srgbClr val="141E46"/>
                </a:solidFill>
                <a:latin typeface="Calibri"/>
              </a:rPr>
              <a:t>Three things we could do next week</a:t>
            </a:r>
          </a:p>
        </p:txBody>
      </p:sp>
      <p:sp>
        <p:nvSpPr>
          <p:cNvPr id="6" name="Rectangle 5"/>
          <p:cNvSpPr/>
          <p:nvPr/>
        </p:nvSpPr>
        <p:spPr>
          <a:xfrm>
            <a:off x="502920" y="1417320"/>
            <a:ext cx="640080" cy="36576"/>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91640"/>
            <a:ext cx="11247120" cy="141732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74520"/>
            <a:ext cx="914400" cy="105156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20824"/>
            <a:ext cx="914400" cy="777240"/>
          </a:xfrm>
          <a:prstGeom prst="rect">
            <a:avLst/>
          </a:prstGeom>
          <a:noFill/>
        </p:spPr>
        <p:txBody>
          <a:bodyPr wrap="square" lIns="0" rIns="0" tIns="0" bIns="0" anchor="t">
            <a:spAutoFit/>
          </a:bodyPr>
          <a:lstStyle/>
          <a:p>
            <a:pPr algn="ctr"/>
            <a:r>
              <a:rPr sz="2800" b="1" i="0">
                <a:solidFill>
                  <a:srgbClr val="FFFFFF"/>
                </a:solidFill>
                <a:latin typeface="Calibri"/>
              </a:rPr>
              <a:t>01</a:t>
            </a:r>
          </a:p>
        </p:txBody>
      </p:sp>
      <p:sp>
        <p:nvSpPr>
          <p:cNvPr id="10" name="TextBox 9"/>
          <p:cNvSpPr txBox="1"/>
          <p:nvPr/>
        </p:nvSpPr>
        <p:spPr>
          <a:xfrm>
            <a:off x="1783080" y="1874520"/>
            <a:ext cx="9784080" cy="411480"/>
          </a:xfrm>
          <a:prstGeom prst="rect">
            <a:avLst/>
          </a:prstGeom>
          <a:noFill/>
        </p:spPr>
        <p:txBody>
          <a:bodyPr wrap="square" lIns="0" rIns="0" tIns="0" bIns="0" anchor="t">
            <a:spAutoFit/>
          </a:bodyPr>
          <a:lstStyle/>
          <a:p>
            <a:pPr algn="l"/>
            <a:r>
              <a:rPr sz="1600" b="1" i="0">
                <a:solidFill>
                  <a:srgbClr val="141E46"/>
                </a:solidFill>
                <a:latin typeface="Calibri"/>
              </a:rPr>
              <a:t>Typological distance heat-map</a:t>
            </a:r>
          </a:p>
        </p:txBody>
      </p:sp>
      <p:sp>
        <p:nvSpPr>
          <p:cNvPr id="11" name="TextBox 10"/>
          <p:cNvSpPr txBox="1"/>
          <p:nvPr/>
        </p:nvSpPr>
        <p:spPr>
          <a:xfrm>
            <a:off x="1783080" y="2331720"/>
            <a:ext cx="9784080" cy="777240"/>
          </a:xfrm>
          <a:prstGeom prst="rect">
            <a:avLst/>
          </a:prstGeom>
          <a:noFill/>
        </p:spPr>
        <p:txBody>
          <a:bodyPr wrap="square" lIns="0" rIns="0" tIns="0" bIns="0" anchor="t">
            <a:spAutoFit/>
          </a:bodyPr>
          <a:lstStyle/>
          <a:p>
            <a:pPr algn="l"/>
            <a:r>
              <a:rPr sz="1200" b="0" i="0">
                <a:solidFill>
                  <a:srgbClr val="1A1E2A"/>
                </a:solidFill>
                <a:latin typeface="Calibri"/>
              </a:rPr>
              <a:t>Use the public lang2vec library to compute typological distances between our 9 languages. Output: a 9×9 colored grid that quantitatively shows Stress Sample languages sit far from the IE block.</a:t>
            </a:r>
          </a:p>
        </p:txBody>
      </p:sp>
      <p:sp>
        <p:nvSpPr>
          <p:cNvPr id="12" name="Rectangle 11"/>
          <p:cNvSpPr/>
          <p:nvPr/>
        </p:nvSpPr>
        <p:spPr>
          <a:xfrm>
            <a:off x="502920" y="3246120"/>
            <a:ext cx="11247120" cy="141732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429000"/>
            <a:ext cx="914400" cy="105156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75304"/>
            <a:ext cx="914400" cy="777240"/>
          </a:xfrm>
          <a:prstGeom prst="rect">
            <a:avLst/>
          </a:prstGeom>
          <a:noFill/>
        </p:spPr>
        <p:txBody>
          <a:bodyPr wrap="square" lIns="0" rIns="0" tIns="0" bIns="0" anchor="t">
            <a:spAutoFit/>
          </a:bodyPr>
          <a:lstStyle/>
          <a:p>
            <a:pPr algn="ctr"/>
            <a:r>
              <a:rPr sz="2800" b="1" i="0">
                <a:solidFill>
                  <a:srgbClr val="FFFFFF"/>
                </a:solidFill>
                <a:latin typeface="Calibri"/>
              </a:rPr>
              <a:t>02</a:t>
            </a:r>
          </a:p>
        </p:txBody>
      </p:sp>
      <p:sp>
        <p:nvSpPr>
          <p:cNvPr id="15" name="TextBox 14"/>
          <p:cNvSpPr txBox="1"/>
          <p:nvPr/>
        </p:nvSpPr>
        <p:spPr>
          <a:xfrm>
            <a:off x="1783080" y="3429000"/>
            <a:ext cx="9784080" cy="411480"/>
          </a:xfrm>
          <a:prstGeom prst="rect">
            <a:avLst/>
          </a:prstGeom>
          <a:noFill/>
        </p:spPr>
        <p:txBody>
          <a:bodyPr wrap="square" lIns="0" rIns="0" tIns="0" bIns="0" anchor="t">
            <a:spAutoFit/>
          </a:bodyPr>
          <a:lstStyle/>
          <a:p>
            <a:pPr algn="l"/>
            <a:r>
              <a:rPr sz="1600" b="1" i="0">
                <a:solidFill>
                  <a:srgbClr val="141E46"/>
                </a:solidFill>
                <a:latin typeface="Calibri"/>
              </a:rPr>
              <a:t>Tokenizer fragmentation probe</a:t>
            </a:r>
          </a:p>
        </p:txBody>
      </p:sp>
      <p:sp>
        <p:nvSpPr>
          <p:cNvPr id="16" name="TextBox 15"/>
          <p:cNvSpPr txBox="1"/>
          <p:nvPr/>
        </p:nvSpPr>
        <p:spPr>
          <a:xfrm>
            <a:off x="1783080" y="3886200"/>
            <a:ext cx="9784080" cy="777240"/>
          </a:xfrm>
          <a:prstGeom prst="rect">
            <a:avLst/>
          </a:prstGeom>
          <a:noFill/>
        </p:spPr>
        <p:txBody>
          <a:bodyPr wrap="square" lIns="0" rIns="0" tIns="0" bIns="0" anchor="t">
            <a:spAutoFit/>
          </a:bodyPr>
          <a:lstStyle/>
          <a:p>
            <a:pPr algn="l"/>
            <a:r>
              <a:rPr sz="1200" b="0" i="0">
                <a:solidFill>
                  <a:srgbClr val="1A1E2A"/>
                </a:solidFill>
                <a:latin typeface="Calibri"/>
              </a:rPr>
              <a:t>Run our candidate embedding tokenizers (LaBSE, BGE-M3, mE5) on a FLORES-200 parallel corpus. Measure how aggressively each language is broken into sub-pieces — early evidence for where models will fail.</a:t>
            </a:r>
          </a:p>
        </p:txBody>
      </p:sp>
      <p:sp>
        <p:nvSpPr>
          <p:cNvPr id="17" name="Rectangle 16"/>
          <p:cNvSpPr/>
          <p:nvPr/>
        </p:nvSpPr>
        <p:spPr>
          <a:xfrm>
            <a:off x="502920" y="4800600"/>
            <a:ext cx="11247120" cy="1417320"/>
          </a:xfrm>
          <a:prstGeom prst="rect">
            <a:avLst/>
          </a:prstGeom>
          <a:solidFill>
            <a:srgbClr val="ECF2F7"/>
          </a:solidFill>
          <a:ln w="9525">
            <a:solidFill>
              <a:srgbClr val="CB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983480"/>
            <a:ext cx="914400" cy="105156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129784"/>
            <a:ext cx="914400" cy="777240"/>
          </a:xfrm>
          <a:prstGeom prst="rect">
            <a:avLst/>
          </a:prstGeom>
          <a:noFill/>
        </p:spPr>
        <p:txBody>
          <a:bodyPr wrap="square" lIns="0" rIns="0" tIns="0" bIns="0" anchor="t">
            <a:spAutoFit/>
          </a:bodyPr>
          <a:lstStyle/>
          <a:p>
            <a:pPr algn="ctr"/>
            <a:r>
              <a:rPr sz="2800" b="1" i="0">
                <a:solidFill>
                  <a:srgbClr val="FFFFFF"/>
                </a:solidFill>
                <a:latin typeface="Calibri"/>
              </a:rPr>
              <a:t>03</a:t>
            </a:r>
          </a:p>
        </p:txBody>
      </p:sp>
      <p:sp>
        <p:nvSpPr>
          <p:cNvPr id="20" name="TextBox 19"/>
          <p:cNvSpPr txBox="1"/>
          <p:nvPr/>
        </p:nvSpPr>
        <p:spPr>
          <a:xfrm>
            <a:off x="1783080" y="4983480"/>
            <a:ext cx="9784080" cy="411480"/>
          </a:xfrm>
          <a:prstGeom prst="rect">
            <a:avLst/>
          </a:prstGeom>
          <a:noFill/>
        </p:spPr>
        <p:txBody>
          <a:bodyPr wrap="square" lIns="0" rIns="0" tIns="0" bIns="0" anchor="t">
            <a:spAutoFit/>
          </a:bodyPr>
          <a:lstStyle/>
          <a:p>
            <a:pPr algn="l"/>
            <a:r>
              <a:rPr sz="1600" b="1" i="0">
                <a:solidFill>
                  <a:srgbClr val="141E46"/>
                </a:solidFill>
                <a:latin typeface="Calibri"/>
              </a:rPr>
              <a:t>Perturbation factory dry-run</a:t>
            </a:r>
          </a:p>
        </p:txBody>
      </p:sp>
      <p:sp>
        <p:nvSpPr>
          <p:cNvPr id="21" name="TextBox 20"/>
          <p:cNvSpPr txBox="1"/>
          <p:nvPr/>
        </p:nvSpPr>
        <p:spPr>
          <a:xfrm>
            <a:off x="1783080" y="5440680"/>
            <a:ext cx="9784080" cy="777240"/>
          </a:xfrm>
          <a:prstGeom prst="rect">
            <a:avLst/>
          </a:prstGeom>
          <a:noFill/>
        </p:spPr>
        <p:txBody>
          <a:bodyPr wrap="square" lIns="0" rIns="0" tIns="0" bIns="0" anchor="t">
            <a:spAutoFit/>
          </a:bodyPr>
          <a:lstStyle/>
          <a:p>
            <a:pPr algn="l"/>
            <a:r>
              <a:rPr sz="1200" b="0" i="0">
                <a:solidFill>
                  <a:srgbClr val="1A1E2A"/>
                </a:solidFill>
                <a:latin typeface="Calibri"/>
              </a:rPr>
              <a:t>Apply the planned perturbations (typos, casing, dialect, negation) to FLORES-200 sentences. Measure cosine-shift in the embedding space. Validates the perturbation factory before we commit API budget to MultiClaim.</a:t>
            </a:r>
          </a:p>
        </p:txBody>
      </p:sp>
      <p:sp>
        <p:nvSpPr>
          <p:cNvPr id="22" name="TextBox 21"/>
          <p:cNvSpPr txBox="1"/>
          <p:nvPr/>
        </p:nvSpPr>
        <p:spPr>
          <a:xfrm>
            <a:off x="502920" y="6492240"/>
            <a:ext cx="7315200" cy="274320"/>
          </a:xfrm>
          <a:prstGeom prst="rect">
            <a:avLst/>
          </a:prstGeom>
          <a:noFill/>
        </p:spPr>
        <p:txBody>
          <a:bodyPr wrap="square" lIns="0" rIns="0" tIns="0" bIns="0" anchor="t">
            <a:spAutoFit/>
          </a:bodyPr>
          <a:lstStyle/>
          <a:p>
            <a:pPr algn="l"/>
            <a:r>
              <a:rPr sz="900" b="0" i="1">
                <a:solidFill>
                  <a:srgbClr val="606A78"/>
                </a:solidFill>
                <a:latin typeface="Calibri"/>
              </a:rPr>
              <a:t>W5  ·  Multilingual Robustness  ·  Cluster Redesign</a:t>
            </a:r>
          </a:p>
        </p:txBody>
      </p:sp>
      <p:sp>
        <p:nvSpPr>
          <p:cNvPr id="23" name="TextBox 22"/>
          <p:cNvSpPr txBox="1"/>
          <p:nvPr/>
        </p:nvSpPr>
        <p:spPr>
          <a:xfrm>
            <a:off x="10515600" y="6492240"/>
            <a:ext cx="1371600" cy="274320"/>
          </a:xfrm>
          <a:prstGeom prst="rect">
            <a:avLst/>
          </a:prstGeom>
          <a:noFill/>
        </p:spPr>
        <p:txBody>
          <a:bodyPr wrap="square" lIns="0" rIns="0" tIns="0" bIns="0" anchor="t">
            <a:spAutoFit/>
          </a:bodyPr>
          <a:lstStyle/>
          <a:p>
            <a:pPr algn="r"/>
            <a:r>
              <a:rPr sz="900" b="0" i="0">
                <a:solidFill>
                  <a:srgbClr val="606A78"/>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1500000">
            <a:off x="-1828800" y="2286000"/>
            <a:ext cx="7315200" cy="7315200"/>
          </a:xfrm>
          <a:prstGeom prst="rect">
            <a:avLst/>
          </a:prstGeom>
          <a:solidFill>
            <a:srgbClr val="0A4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500000">
            <a:off x="-1371600" y="2011680"/>
            <a:ext cx="182880" cy="822960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0" y="2468880"/>
            <a:ext cx="73152" cy="2377440"/>
          </a:xfrm>
          <a:prstGeom prst="rect">
            <a:avLst/>
          </a:prstGeom>
          <a:solidFill>
            <a:srgbClr val="E09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2468880"/>
            <a:ext cx="5029200" cy="411480"/>
          </a:xfrm>
          <a:prstGeom prst="rect">
            <a:avLst/>
          </a:prstGeom>
          <a:noFill/>
        </p:spPr>
        <p:txBody>
          <a:bodyPr wrap="square" lIns="0" rIns="0" tIns="0" bIns="0" anchor="t">
            <a:spAutoFit/>
          </a:bodyPr>
          <a:lstStyle/>
          <a:p>
            <a:pPr algn="l"/>
            <a:r>
              <a:rPr sz="1200" b="1" i="0">
                <a:solidFill>
                  <a:srgbClr val="E09A36"/>
                </a:solidFill>
                <a:latin typeface="Calibri"/>
              </a:rPr>
              <a:t>W5  ·  CLUSTER REDESIGN</a:t>
            </a:r>
          </a:p>
        </p:txBody>
      </p:sp>
      <p:sp>
        <p:nvSpPr>
          <p:cNvPr id="7" name="TextBox 6"/>
          <p:cNvSpPr txBox="1"/>
          <p:nvPr/>
        </p:nvSpPr>
        <p:spPr>
          <a:xfrm>
            <a:off x="6675120" y="2926080"/>
            <a:ext cx="5120640" cy="1371600"/>
          </a:xfrm>
          <a:prstGeom prst="rect">
            <a:avLst/>
          </a:prstGeom>
          <a:noFill/>
        </p:spPr>
        <p:txBody>
          <a:bodyPr wrap="square" lIns="0" rIns="0" tIns="0" bIns="0" anchor="t">
            <a:spAutoFit/>
          </a:bodyPr>
          <a:lstStyle/>
          <a:p>
            <a:pPr algn="l"/>
            <a:r>
              <a:rPr sz="5400" b="1" i="0">
                <a:solidFill>
                  <a:srgbClr val="FFFFFF"/>
                </a:solidFill>
                <a:latin typeface="Calibri"/>
              </a:rPr>
              <a:t>Thank you</a:t>
            </a:r>
          </a:p>
        </p:txBody>
      </p:sp>
      <p:sp>
        <p:nvSpPr>
          <p:cNvPr id="8" name="TextBox 7"/>
          <p:cNvSpPr txBox="1"/>
          <p:nvPr/>
        </p:nvSpPr>
        <p:spPr>
          <a:xfrm>
            <a:off x="6675120" y="4297680"/>
            <a:ext cx="5120640" cy="365760"/>
          </a:xfrm>
          <a:prstGeom prst="rect">
            <a:avLst/>
          </a:prstGeom>
          <a:noFill/>
        </p:spPr>
        <p:txBody>
          <a:bodyPr wrap="square" lIns="0" rIns="0" tIns="0" bIns="0" anchor="t">
            <a:spAutoFit/>
          </a:bodyPr>
          <a:lstStyle/>
          <a:p>
            <a:pPr algn="l"/>
            <a:r>
              <a:rPr sz="1400" b="0" i="1">
                <a:solidFill>
                  <a:srgbClr val="ECF2F7"/>
                </a:solidFill>
                <a:latin typeface="Calibri"/>
              </a:rPr>
              <a:t>Questions, sharper critiques, better naming ideas — welcome.</a:t>
            </a:r>
          </a:p>
        </p:txBody>
      </p:sp>
      <p:sp>
        <p:nvSpPr>
          <p:cNvPr id="9" name="TextBox 8"/>
          <p:cNvSpPr txBox="1"/>
          <p:nvPr/>
        </p:nvSpPr>
        <p:spPr>
          <a:xfrm>
            <a:off x="6675120" y="5852160"/>
            <a:ext cx="5120640" cy="365760"/>
          </a:xfrm>
          <a:prstGeom prst="rect">
            <a:avLst/>
          </a:prstGeom>
          <a:noFill/>
        </p:spPr>
        <p:txBody>
          <a:bodyPr wrap="square" lIns="0" rIns="0" tIns="0" bIns="0" anchor="t">
            <a:spAutoFit/>
          </a:bodyPr>
          <a:lstStyle/>
          <a:p>
            <a:pPr algn="l"/>
            <a:r>
              <a:rPr sz="1100" b="0" i="0">
                <a:solidFill>
                  <a:srgbClr val="ECF2F7"/>
                </a:solidFill>
                <a:latin typeface="Calibri"/>
              </a:rPr>
              <a:t>Justus von Voß  ·  Benjamin Masberg  ·  Luna Brauwers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